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3" r:id="rId3"/>
    <p:sldId id="271" r:id="rId4"/>
    <p:sldId id="275" r:id="rId5"/>
    <p:sldId id="274" r:id="rId6"/>
    <p:sldId id="272" r:id="rId7"/>
    <p:sldId id="273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4" r:id="rId16"/>
    <p:sldId id="288" r:id="rId17"/>
    <p:sldId id="285" r:id="rId18"/>
    <p:sldId id="286" r:id="rId19"/>
    <p:sldId id="287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70" r:id="rId29"/>
    <p:sldId id="265" r:id="rId30"/>
    <p:sldId id="266" r:id="rId31"/>
    <p:sldId id="267" r:id="rId32"/>
    <p:sldId id="268" r:id="rId33"/>
    <p:sldId id="269" r:id="rId34"/>
    <p:sldId id="289" r:id="rId3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716" autoAdjust="0"/>
  </p:normalViewPr>
  <p:slideViewPr>
    <p:cSldViewPr snapToGrid="0" snapToObjects="1">
      <p:cViewPr varScale="1">
        <p:scale>
          <a:sx n="122" d="100"/>
          <a:sy n="122" d="100"/>
        </p:scale>
        <p:origin x="114" y="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vs-a9bf1.web.app/" TargetMode="External"/><Relationship Id="rId2" Type="http://schemas.openxmlformats.org/officeDocument/2006/relationships/hyperlink" Target="https://github.com/narukami00/CodeVS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6000" b="1" i="0">
                <a:solidFill>
                  <a:srgbClr val="0F172A"/>
                </a:solidFill>
                <a:latin typeface="Calibri"/>
              </a:rPr>
              <a:t>CodeVS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31720"/>
            <a:ext cx="9144000" cy="43088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lang="en-US" sz="2200" b="0" i="0" dirty="0">
                <a:solidFill>
                  <a:srgbClr val="0284C7"/>
                </a:solidFill>
                <a:latin typeface="Calibri"/>
              </a:rPr>
              <a:t>Information System Design Laboratory</a:t>
            </a:r>
            <a:endParaRPr sz="2200" b="0" i="0" dirty="0">
              <a:solidFill>
                <a:srgbClr val="0284C7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2834640"/>
            <a:ext cx="9144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1" dirty="0">
                <a:solidFill>
                  <a:srgbClr val="64748B"/>
                </a:solidFill>
                <a:latin typeface="Calibri"/>
              </a:rPr>
              <a:t>Agile Scrum  ·  Jira Cloud  ·  GitHub Integration  ·  Zephyr Scale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337560"/>
            <a:ext cx="5029200" cy="27432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3657600"/>
            <a:ext cx="68580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767328"/>
            <a:ext cx="6583680" cy="3693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b="1" i="0" dirty="0">
                <a:solidFill>
                  <a:srgbClr val="0F172A"/>
                </a:solidFill>
                <a:latin typeface="Calibri"/>
              </a:rPr>
              <a:t>Team Members &amp; Roles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10838"/>
            <a:ext cx="6583680" cy="7660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dirty="0">
                <a:solidFill>
                  <a:srgbClr val="334155"/>
                </a:solidFill>
                <a:latin typeface="Calibri"/>
              </a:rPr>
              <a:t>Rafsan Riasat</a:t>
            </a:r>
            <a:r>
              <a:rPr lang="en-US" sz="1200" b="1" dirty="0">
                <a:solidFill>
                  <a:srgbClr val="334155"/>
                </a:solidFill>
                <a:latin typeface="Calibri"/>
              </a:rPr>
              <a:t> 2207006</a:t>
            </a:r>
            <a:r>
              <a:rPr sz="1200" b="1" dirty="0">
                <a:solidFill>
                  <a:srgbClr val="334155"/>
                </a:solidFill>
                <a:latin typeface="Calibri"/>
              </a:rPr>
              <a:t>  —  Scrum Master (Project Scaffolding, Deployment, QA Coordination)</a:t>
            </a:r>
          </a:p>
          <a:p>
            <a:pPr algn="l">
              <a:lnSpc>
                <a:spcPts val="1800"/>
              </a:lnSpc>
            </a:pPr>
            <a:r>
              <a:rPr sz="1200" b="0" dirty="0">
                <a:solidFill>
                  <a:srgbClr val="64748B"/>
                </a:solidFill>
                <a:latin typeface="Calibri"/>
              </a:rPr>
              <a:t>Utsa Roy </a:t>
            </a:r>
            <a:r>
              <a:rPr lang="en-US" sz="1200" b="0" dirty="0">
                <a:solidFill>
                  <a:srgbClr val="64748B"/>
                </a:solidFill>
                <a:latin typeface="Calibri"/>
              </a:rPr>
              <a:t>2207027</a:t>
            </a:r>
            <a:r>
              <a:rPr sz="1200" b="0" dirty="0">
                <a:solidFill>
                  <a:srgbClr val="64748B"/>
                </a:solidFill>
                <a:latin typeface="Calibri"/>
              </a:rPr>
              <a:t> —  Backend &amp; Game Engine (Firebase, Matchmaking, WPM Engine)</a:t>
            </a:r>
          </a:p>
          <a:p>
            <a:pPr algn="l">
              <a:lnSpc>
                <a:spcPts val="1800"/>
              </a:lnSpc>
            </a:pPr>
            <a:r>
              <a:rPr sz="1200" b="0" dirty="0">
                <a:solidFill>
                  <a:srgbClr val="64748B"/>
                </a:solidFill>
                <a:latin typeface="Calibri"/>
              </a:rPr>
              <a:t>Md Adib Raian </a:t>
            </a:r>
            <a:r>
              <a:rPr lang="en-US" sz="1200" b="0" dirty="0">
                <a:solidFill>
                  <a:srgbClr val="64748B"/>
                </a:solidFill>
                <a:latin typeface="Calibri"/>
              </a:rPr>
              <a:t>2207020</a:t>
            </a:r>
            <a:r>
              <a:rPr sz="1200" b="0" dirty="0">
                <a:solidFill>
                  <a:srgbClr val="64748B"/>
                </a:solidFill>
                <a:latin typeface="Calibri"/>
              </a:rPr>
              <a:t> —  Frontend &amp; UI (Layouts, Theming, Mobile Responsiveness)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3657600"/>
            <a:ext cx="3017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595360" y="3657600"/>
            <a:ext cx="3017520" cy="91440"/>
          </a:xfrm>
          <a:prstGeom prst="rect">
            <a:avLst/>
          </a:prstGeom>
          <a:solidFill>
            <a:srgbClr val="4F46E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0" y="3886200"/>
            <a:ext cx="3017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 i="0">
                <a:solidFill>
                  <a:srgbClr val="4F46E5"/>
                </a:solidFill>
                <a:latin typeface="Calibri"/>
              </a:rPr>
              <a:t>Agile Scrum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343400"/>
            <a:ext cx="301752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Calibri"/>
              </a:rPr>
              <a:t>3 Sprints
5 Epics
113 Jira Issues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71B4C7F-9D84-39A6-F1BA-331AF72902B9}"/>
              </a:ext>
            </a:extLst>
          </p:cNvPr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58EDDB-8F84-800E-F910-6C00834D24D4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4BB4C8-7FDE-E8BC-91E9-18C3CD30F50E}"/>
              </a:ext>
            </a:extLst>
          </p:cNvPr>
          <p:cNvSpPr/>
          <p:nvPr/>
        </p:nvSpPr>
        <p:spPr>
          <a:xfrm>
            <a:off x="0" y="850392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6DCBDC-9B3F-478A-61AB-E4AAC5EE44E2}"/>
              </a:ext>
            </a:extLst>
          </p:cNvPr>
          <p:cNvSpPr txBox="1"/>
          <p:nvPr/>
        </p:nvSpPr>
        <p:spPr>
          <a:xfrm>
            <a:off x="365760" y="146304"/>
            <a:ext cx="10972800" cy="4924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lang="en-US" sz="2600" b="1" dirty="0">
                <a:solidFill>
                  <a:srgbClr val="0F172A"/>
                </a:solidFill>
                <a:latin typeface="Calibri"/>
              </a:rPr>
              <a:t>Introduction</a:t>
            </a:r>
            <a:endParaRPr sz="2600" b="1" i="0" dirty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F6F79D-D735-6A17-07E9-08ABD0E96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03" y="1080325"/>
            <a:ext cx="11040218" cy="5769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541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11F1A3D-E792-7FE5-FDE4-2E189C73F410}"/>
              </a:ext>
            </a:extLst>
          </p:cNvPr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359502-B0B9-CA60-5537-CB73D7B2E8B6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DFB3C7-BD07-C486-69D7-8F13253177EC}"/>
              </a:ext>
            </a:extLst>
          </p:cNvPr>
          <p:cNvSpPr/>
          <p:nvPr/>
        </p:nvSpPr>
        <p:spPr>
          <a:xfrm>
            <a:off x="0" y="850392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B4835B-4C58-824F-8E75-F06AB36A4E6B}"/>
              </a:ext>
            </a:extLst>
          </p:cNvPr>
          <p:cNvSpPr txBox="1"/>
          <p:nvPr/>
        </p:nvSpPr>
        <p:spPr>
          <a:xfrm>
            <a:off x="365760" y="146304"/>
            <a:ext cx="10972800" cy="4924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lang="en-US" sz="2600" b="1" dirty="0">
                <a:solidFill>
                  <a:srgbClr val="0F172A"/>
                </a:solidFill>
                <a:latin typeface="Calibri"/>
              </a:rPr>
              <a:t>UML Class Diagram</a:t>
            </a:r>
            <a:endParaRPr sz="2600" b="1" i="0" dirty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C4589CC-35BB-8E61-D602-4004D4B5B27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94" b="13445"/>
          <a:stretch>
            <a:fillRect/>
          </a:stretch>
        </p:blipFill>
        <p:spPr bwMode="auto">
          <a:xfrm>
            <a:off x="1744565" y="941832"/>
            <a:ext cx="8699693" cy="566752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56683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8603996-AEB1-647E-CAB0-A1C9A4867AD5}"/>
              </a:ext>
            </a:extLst>
          </p:cNvPr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714499-97C2-A1EA-0EBC-A8C5F4C606E5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5AA97B-301D-1E40-70AD-798F5ACD8AB3}"/>
              </a:ext>
            </a:extLst>
          </p:cNvPr>
          <p:cNvSpPr/>
          <p:nvPr/>
        </p:nvSpPr>
        <p:spPr>
          <a:xfrm>
            <a:off x="0" y="850392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D7A4DE-144C-14F4-8953-B8CE3A27C789}"/>
              </a:ext>
            </a:extLst>
          </p:cNvPr>
          <p:cNvSpPr txBox="1"/>
          <p:nvPr/>
        </p:nvSpPr>
        <p:spPr>
          <a:xfrm>
            <a:off x="365760" y="146304"/>
            <a:ext cx="10972800" cy="4924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lang="en-US" sz="2600" b="1" dirty="0">
                <a:solidFill>
                  <a:srgbClr val="0F172A"/>
                </a:solidFill>
                <a:latin typeface="Calibri"/>
              </a:rPr>
              <a:t>Component Diagram</a:t>
            </a:r>
            <a:endParaRPr sz="2600" b="1" i="0" dirty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D6474F-8F8B-4C45-BFD0-9569ACA7F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612" y="1195062"/>
            <a:ext cx="10828948" cy="55166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263449-0498-148B-A5B2-A0973816E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974" y="3003780"/>
            <a:ext cx="543001" cy="2095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C4C3A42-C309-8BA4-2FA6-232D069A1C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9446" y="2784821"/>
            <a:ext cx="2071077" cy="25921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8DA2350-8459-851D-A3EF-751633D7E3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9446" y="3243236"/>
            <a:ext cx="2372056" cy="37152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1750C45-0E5E-862F-04DB-127294A0DF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5698" y="3887414"/>
            <a:ext cx="2372056" cy="3715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454F41C-382B-01A0-260D-427FBEB0FB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5698" y="4531592"/>
            <a:ext cx="2372056" cy="309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930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21363A6-84CB-F7F9-3702-AC9DF9F9F00E}"/>
              </a:ext>
            </a:extLst>
          </p:cNvPr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389CF2-588E-1021-5887-CC8176EBC6B4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0B1A78-9584-29BA-5C4C-40E150E0BB20}"/>
              </a:ext>
            </a:extLst>
          </p:cNvPr>
          <p:cNvSpPr/>
          <p:nvPr/>
        </p:nvSpPr>
        <p:spPr>
          <a:xfrm>
            <a:off x="0" y="850392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EF7195-5C7D-4F51-C3D9-C6A30E405816}"/>
              </a:ext>
            </a:extLst>
          </p:cNvPr>
          <p:cNvSpPr txBox="1"/>
          <p:nvPr/>
        </p:nvSpPr>
        <p:spPr>
          <a:xfrm>
            <a:off x="365760" y="146304"/>
            <a:ext cx="10972800" cy="4924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lang="en-US" sz="2600" b="1" dirty="0">
                <a:solidFill>
                  <a:srgbClr val="0F172A"/>
                </a:solidFill>
                <a:latin typeface="Calibri"/>
              </a:rPr>
              <a:t>Use-case Diagram</a:t>
            </a:r>
            <a:endParaRPr sz="2600" b="1" i="0" dirty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3743CD0-2265-C58C-9F76-F74AC48A02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02"/>
          <a:stretch>
            <a:fillRect/>
          </a:stretch>
        </p:blipFill>
        <p:spPr bwMode="auto">
          <a:xfrm>
            <a:off x="2781791" y="946456"/>
            <a:ext cx="6140738" cy="57652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7478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2A403F8-D993-3162-B37A-0FE30F76E708}"/>
              </a:ext>
            </a:extLst>
          </p:cNvPr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960990-6C06-639C-BA59-BD661F3C4F14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131BAE-66E6-E8FF-526E-629E70BB718B}"/>
              </a:ext>
            </a:extLst>
          </p:cNvPr>
          <p:cNvSpPr/>
          <p:nvPr/>
        </p:nvSpPr>
        <p:spPr>
          <a:xfrm>
            <a:off x="0" y="850392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E53C66-739F-789A-DAA9-5ECF2E084A91}"/>
              </a:ext>
            </a:extLst>
          </p:cNvPr>
          <p:cNvSpPr txBox="1"/>
          <p:nvPr/>
        </p:nvSpPr>
        <p:spPr>
          <a:xfrm>
            <a:off x="365760" y="146304"/>
            <a:ext cx="10972800" cy="4924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lang="en-US" sz="2600" b="1" dirty="0">
                <a:solidFill>
                  <a:srgbClr val="0F172A"/>
                </a:solidFill>
                <a:latin typeface="Calibri"/>
              </a:rPr>
              <a:t>Activity Diagram</a:t>
            </a:r>
            <a:endParaRPr sz="2600" b="1" i="0" dirty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C18CBA3-4AD7-D249-AE60-FAF6FC8052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" b="2864"/>
          <a:stretch>
            <a:fillRect/>
          </a:stretch>
        </p:blipFill>
        <p:spPr bwMode="auto">
          <a:xfrm>
            <a:off x="3501427" y="941832"/>
            <a:ext cx="4701466" cy="591616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47216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D10C0D9-3411-1C1A-C8E0-BBE9191BDC07}"/>
              </a:ext>
            </a:extLst>
          </p:cNvPr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BF7C79-6D38-E9D7-6366-826DC30AF044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9377BC-3B20-934B-DB42-8E1173C0792B}"/>
              </a:ext>
            </a:extLst>
          </p:cNvPr>
          <p:cNvSpPr/>
          <p:nvPr/>
        </p:nvSpPr>
        <p:spPr>
          <a:xfrm>
            <a:off x="0" y="850392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0D4776-E80E-31AB-DB71-62B589ACE611}"/>
              </a:ext>
            </a:extLst>
          </p:cNvPr>
          <p:cNvSpPr txBox="1"/>
          <p:nvPr/>
        </p:nvSpPr>
        <p:spPr>
          <a:xfrm>
            <a:off x="365760" y="146304"/>
            <a:ext cx="10972800" cy="4924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lang="en-US" sz="2600" b="1" dirty="0">
                <a:solidFill>
                  <a:srgbClr val="0F172A"/>
                </a:solidFill>
                <a:latin typeface="Calibri"/>
              </a:rPr>
              <a:t>Sequence Diagram</a:t>
            </a:r>
            <a:endParaRPr sz="2600" b="1" i="0" dirty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E84AADF-BB4A-22F2-D0CC-2345CBA93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797" y="923544"/>
            <a:ext cx="7453230" cy="584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560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0D90D83-BC02-288B-3FBD-94B980E40864}"/>
              </a:ext>
            </a:extLst>
          </p:cNvPr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2A2A1B-B991-092C-C6EF-66753F73FAA8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5935D4-908B-AAF0-A7B8-1F39A895763D}"/>
              </a:ext>
            </a:extLst>
          </p:cNvPr>
          <p:cNvSpPr/>
          <p:nvPr/>
        </p:nvSpPr>
        <p:spPr>
          <a:xfrm>
            <a:off x="0" y="850392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F95D33-7233-AC40-36AE-726E226AC109}"/>
              </a:ext>
            </a:extLst>
          </p:cNvPr>
          <p:cNvSpPr txBox="1"/>
          <p:nvPr/>
        </p:nvSpPr>
        <p:spPr>
          <a:xfrm>
            <a:off x="365760" y="146304"/>
            <a:ext cx="10972800" cy="4924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lang="en-US" sz="2600" b="1" dirty="0">
                <a:solidFill>
                  <a:srgbClr val="0F172A"/>
                </a:solidFill>
                <a:latin typeface="Calibri"/>
              </a:rPr>
              <a:t>Context Level (Level 0) DFD</a:t>
            </a:r>
            <a:endParaRPr sz="2600" b="1" i="0" dirty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9251980-CC37-B227-7F5D-5617912D3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6" r="3014"/>
          <a:stretch>
            <a:fillRect/>
          </a:stretch>
        </p:blipFill>
        <p:spPr bwMode="auto">
          <a:xfrm>
            <a:off x="453054" y="1493219"/>
            <a:ext cx="11282716" cy="49128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1166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1B116B8-3A00-1A14-20D9-4EC4631BA9FD}"/>
              </a:ext>
            </a:extLst>
          </p:cNvPr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3D4E11-5113-1517-24D5-0DC7A5728722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1F3638-934F-F25D-FEDA-6EEA5ABA85DD}"/>
              </a:ext>
            </a:extLst>
          </p:cNvPr>
          <p:cNvSpPr/>
          <p:nvPr/>
        </p:nvSpPr>
        <p:spPr>
          <a:xfrm>
            <a:off x="0" y="850392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C27AB4-7F87-6EB5-FBE4-7603F9586CE4}"/>
              </a:ext>
            </a:extLst>
          </p:cNvPr>
          <p:cNvSpPr txBox="1"/>
          <p:nvPr/>
        </p:nvSpPr>
        <p:spPr>
          <a:xfrm>
            <a:off x="365760" y="146304"/>
            <a:ext cx="10972800" cy="4924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lang="en-US" sz="2600" b="1" dirty="0">
                <a:solidFill>
                  <a:srgbClr val="0F172A"/>
                </a:solidFill>
              </a:rPr>
              <a:t>Level 1 DFD – Main Processes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B6D9E99-30B7-5E04-8DAA-7F6A689DE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087" y="1080325"/>
            <a:ext cx="9772650" cy="5622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879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0B75CE7-5540-24E4-5805-75A682FBBA95}"/>
              </a:ext>
            </a:extLst>
          </p:cNvPr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1FA240-E275-4438-06DE-D67E326E73EC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DB72B4-D1EC-E7FC-3707-63DC4355FD8A}"/>
              </a:ext>
            </a:extLst>
          </p:cNvPr>
          <p:cNvSpPr/>
          <p:nvPr/>
        </p:nvSpPr>
        <p:spPr>
          <a:xfrm>
            <a:off x="0" y="850392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18046B-C093-C1B2-0E4F-754CED6FC277}"/>
              </a:ext>
            </a:extLst>
          </p:cNvPr>
          <p:cNvSpPr txBox="1"/>
          <p:nvPr/>
        </p:nvSpPr>
        <p:spPr>
          <a:xfrm>
            <a:off x="365760" y="146304"/>
            <a:ext cx="10972800" cy="4924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lang="en-US" sz="2600" b="1" dirty="0">
                <a:solidFill>
                  <a:srgbClr val="0F172A"/>
                </a:solidFill>
                <a:latin typeface="Calibri"/>
              </a:rPr>
              <a:t>Level 2 DFD – Sub Process Details</a:t>
            </a:r>
            <a:endParaRPr sz="2600" b="1" i="0" dirty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E2792D0-7540-8463-5FB4-951B4A76D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79" y="1080325"/>
            <a:ext cx="11687666" cy="5293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070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3947961-11E7-EDF4-D79C-41890CB441AD}"/>
              </a:ext>
            </a:extLst>
          </p:cNvPr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B53F6F-1D74-A548-368B-D3104B576B97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A47743-7451-3D8F-7CF2-F1ACB4FBDE17}"/>
              </a:ext>
            </a:extLst>
          </p:cNvPr>
          <p:cNvSpPr/>
          <p:nvPr/>
        </p:nvSpPr>
        <p:spPr>
          <a:xfrm>
            <a:off x="0" y="850392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142D79-9CA8-4F72-D504-ECB84EC06684}"/>
              </a:ext>
            </a:extLst>
          </p:cNvPr>
          <p:cNvSpPr txBox="1"/>
          <p:nvPr/>
        </p:nvSpPr>
        <p:spPr>
          <a:xfrm>
            <a:off x="365760" y="146304"/>
            <a:ext cx="10972800" cy="4924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lang="en-US" sz="2600" b="1" dirty="0">
                <a:solidFill>
                  <a:srgbClr val="0F172A"/>
                </a:solidFill>
                <a:latin typeface="Calibri"/>
              </a:rPr>
              <a:t>Level 2 DFD – Sub Process Details</a:t>
            </a:r>
            <a:endParaRPr sz="2600" b="1" i="0" dirty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BB0FBD0-CAD0-E1CF-CE02-44125A9C93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88"/>
          <a:stretch>
            <a:fillRect/>
          </a:stretch>
        </p:blipFill>
        <p:spPr>
          <a:xfrm>
            <a:off x="-1" y="941832"/>
            <a:ext cx="12135999" cy="551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731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42797C2-6F1B-CEF1-AF77-AE8286DC7B54}"/>
              </a:ext>
            </a:extLst>
          </p:cNvPr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AE9E0D-42B4-230F-98BC-4B62971699C5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3934EA-C45A-CA90-07D3-91119AA82969}"/>
              </a:ext>
            </a:extLst>
          </p:cNvPr>
          <p:cNvSpPr/>
          <p:nvPr/>
        </p:nvSpPr>
        <p:spPr>
          <a:xfrm>
            <a:off x="0" y="850392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1B68FB-A042-4589-6784-0EEA2EFB7838}"/>
              </a:ext>
            </a:extLst>
          </p:cNvPr>
          <p:cNvSpPr txBox="1"/>
          <p:nvPr/>
        </p:nvSpPr>
        <p:spPr>
          <a:xfrm>
            <a:off x="365760" y="146304"/>
            <a:ext cx="10972800" cy="4924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lang="en-US" sz="2600" b="1" dirty="0">
                <a:solidFill>
                  <a:srgbClr val="0F172A"/>
                </a:solidFill>
                <a:latin typeface="Calibri"/>
              </a:rPr>
              <a:t>Level 2 DFD – Sub Process Details</a:t>
            </a:r>
            <a:endParaRPr sz="2600" b="1" i="0" dirty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C66C392-76ED-70B0-7FC9-F26F6E64E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1832"/>
            <a:ext cx="12160424" cy="519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079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57FE35-A8F9-439F-781A-F55669F5D7E1}"/>
              </a:ext>
            </a:extLst>
          </p:cNvPr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6A8B6B-D3FE-F443-7A3A-4066056A4190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215307-A082-92CB-9F5A-DDD285C5144F}"/>
              </a:ext>
            </a:extLst>
          </p:cNvPr>
          <p:cNvSpPr/>
          <p:nvPr/>
        </p:nvSpPr>
        <p:spPr>
          <a:xfrm>
            <a:off x="0" y="850392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55B18F-6521-F1FF-56AC-FC2D1B59EB69}"/>
              </a:ext>
            </a:extLst>
          </p:cNvPr>
          <p:cNvSpPr txBox="1"/>
          <p:nvPr/>
        </p:nvSpPr>
        <p:spPr>
          <a:xfrm>
            <a:off x="365760" y="146304"/>
            <a:ext cx="10972800" cy="4924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lang="en-US" sz="2600" b="1" dirty="0">
                <a:solidFill>
                  <a:srgbClr val="0F172A"/>
                </a:solidFill>
                <a:latin typeface="Calibri"/>
              </a:rPr>
              <a:t>Level 2 DFD – Sub Process Details</a:t>
            </a:r>
            <a:endParaRPr sz="2600" b="1" i="0" dirty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593B3F-5DC8-4424-13EC-18FAD5F47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0" y="960120"/>
            <a:ext cx="12097563" cy="5769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601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9750774-E7F2-468F-688E-64AE4F5A1B9E}"/>
              </a:ext>
            </a:extLst>
          </p:cNvPr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47847E-5587-0C22-3F5C-4F2C42B32280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926C01-CCA9-C752-4409-2E337E70A39D}"/>
              </a:ext>
            </a:extLst>
          </p:cNvPr>
          <p:cNvSpPr/>
          <p:nvPr/>
        </p:nvSpPr>
        <p:spPr>
          <a:xfrm>
            <a:off x="0" y="850392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E7F48B-4C83-78B5-5261-567E7A2938BF}"/>
              </a:ext>
            </a:extLst>
          </p:cNvPr>
          <p:cNvSpPr txBox="1"/>
          <p:nvPr/>
        </p:nvSpPr>
        <p:spPr>
          <a:xfrm>
            <a:off x="365760" y="146304"/>
            <a:ext cx="10972800" cy="4924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lang="en-US" sz="2600" b="1" dirty="0">
                <a:solidFill>
                  <a:srgbClr val="0F172A"/>
                </a:solidFill>
                <a:latin typeface="Calibri"/>
              </a:rPr>
              <a:t>Level 2 DFD – Sub Process Details</a:t>
            </a:r>
            <a:endParaRPr sz="2600" b="1" i="0" dirty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545061-A54E-2A12-981F-FED0C269F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39" y="923544"/>
            <a:ext cx="11913345" cy="591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259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0DE05C-216F-5AF4-731E-29931103D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659" y="1415987"/>
            <a:ext cx="8731506" cy="491147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8C28AA7-6DA2-444B-A63C-BA322B294130}"/>
              </a:ext>
            </a:extLst>
          </p:cNvPr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6DA42A-D696-0BEC-A895-23561A52F61B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F90DDC-71D0-A88A-75FF-03F87FDF59A5}"/>
              </a:ext>
            </a:extLst>
          </p:cNvPr>
          <p:cNvSpPr/>
          <p:nvPr/>
        </p:nvSpPr>
        <p:spPr>
          <a:xfrm>
            <a:off x="0" y="850392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DB9B77-C440-FD38-EC1D-68C99D5D7D4C}"/>
              </a:ext>
            </a:extLst>
          </p:cNvPr>
          <p:cNvSpPr txBox="1"/>
          <p:nvPr/>
        </p:nvSpPr>
        <p:spPr>
          <a:xfrm>
            <a:off x="365760" y="146304"/>
            <a:ext cx="10972800" cy="4924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lang="en-US" sz="2600" b="1" i="0" dirty="0">
                <a:solidFill>
                  <a:srgbClr val="0F172A"/>
                </a:solidFill>
                <a:latin typeface="Calibri"/>
              </a:rPr>
              <a:t>Landing Page</a:t>
            </a:r>
            <a:endParaRPr sz="2600" b="1" i="0" dirty="0">
              <a:solidFill>
                <a:srgbClr val="0F172A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0339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B8636A-3437-A65A-55A4-39AA2CC92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044" y="1225394"/>
            <a:ext cx="6712848" cy="377597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2CCDAA2-7F50-D024-4DB0-276C1D6F76F5}"/>
              </a:ext>
            </a:extLst>
          </p:cNvPr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013B71-67F7-E5B9-D9DE-3CD84A3B7425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EDC1E6-90F7-E646-8671-489F30FE33ED}"/>
              </a:ext>
            </a:extLst>
          </p:cNvPr>
          <p:cNvSpPr/>
          <p:nvPr/>
        </p:nvSpPr>
        <p:spPr>
          <a:xfrm>
            <a:off x="0" y="850392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C16286-6F6D-6AE4-47BF-03256DE2541B}"/>
              </a:ext>
            </a:extLst>
          </p:cNvPr>
          <p:cNvSpPr txBox="1"/>
          <p:nvPr/>
        </p:nvSpPr>
        <p:spPr>
          <a:xfrm>
            <a:off x="365760" y="146304"/>
            <a:ext cx="10972800" cy="4924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lang="en-US" sz="2600" b="1" dirty="0">
                <a:solidFill>
                  <a:srgbClr val="0F172A"/>
                </a:solidFill>
                <a:latin typeface="Calibri"/>
              </a:rPr>
              <a:t>Sign-Up &amp; Log-In</a:t>
            </a:r>
            <a:endParaRPr sz="2600" b="1" i="0" dirty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EC023F9-9A9E-836D-EA75-3D99779C9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325" y="3142453"/>
            <a:ext cx="6345321" cy="356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351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73B4A39-0378-3FB8-4EF2-A50F96827521}"/>
              </a:ext>
            </a:extLst>
          </p:cNvPr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2AB358-65E2-3D9D-73C4-46F79A27E2EB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4B0C42-590C-1496-0505-180B67D9C949}"/>
              </a:ext>
            </a:extLst>
          </p:cNvPr>
          <p:cNvSpPr/>
          <p:nvPr/>
        </p:nvSpPr>
        <p:spPr>
          <a:xfrm>
            <a:off x="0" y="850392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6DED98-6AB1-086E-304C-746E463EC304}"/>
              </a:ext>
            </a:extLst>
          </p:cNvPr>
          <p:cNvSpPr txBox="1"/>
          <p:nvPr/>
        </p:nvSpPr>
        <p:spPr>
          <a:xfrm>
            <a:off x="365760" y="146304"/>
            <a:ext cx="10972800" cy="4924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lang="en-US" sz="2600" b="1" i="0" dirty="0">
                <a:solidFill>
                  <a:srgbClr val="0F172A"/>
                </a:solidFill>
                <a:latin typeface="Calibri"/>
              </a:rPr>
              <a:t>User Profile &amp; Leaderboard</a:t>
            </a:r>
            <a:endParaRPr sz="2600" b="1" i="0" dirty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70A5F2-4CF2-D599-AFA9-238BB1D5D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1484" y="1080325"/>
            <a:ext cx="6278100" cy="35314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7F2F950-304C-1FC2-3240-8464C291A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61" y="3429000"/>
            <a:ext cx="5735412" cy="3226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8796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A928096-179E-6B36-D23F-09BB2238CBFB}"/>
              </a:ext>
            </a:extLst>
          </p:cNvPr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23458-6FE6-EC44-7BE9-6F4E6FD05C7C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F3A840-C496-3722-B65F-80FABCEF2A11}"/>
              </a:ext>
            </a:extLst>
          </p:cNvPr>
          <p:cNvSpPr/>
          <p:nvPr/>
        </p:nvSpPr>
        <p:spPr>
          <a:xfrm>
            <a:off x="0" y="850392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E88E96-6725-555F-2799-7610C540C3D8}"/>
              </a:ext>
            </a:extLst>
          </p:cNvPr>
          <p:cNvSpPr txBox="1"/>
          <p:nvPr/>
        </p:nvSpPr>
        <p:spPr>
          <a:xfrm>
            <a:off x="365760" y="146304"/>
            <a:ext cx="10972800" cy="4924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lang="en-US" sz="2600" b="1" i="0" dirty="0">
                <a:solidFill>
                  <a:srgbClr val="0F172A"/>
                </a:solidFill>
                <a:latin typeface="Calibri"/>
              </a:rPr>
              <a:t>Matchmaking</a:t>
            </a:r>
            <a:endParaRPr sz="2600" b="1" i="0" dirty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6E715CF-2CE3-1113-50AD-5837BBF26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80325"/>
            <a:ext cx="6094413" cy="34281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744CB1B-F197-C82E-D43F-5E68F1A22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915" y="3233893"/>
            <a:ext cx="6182761" cy="3477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734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98F8145-157E-C56D-3224-DA7A935AD13D}"/>
              </a:ext>
            </a:extLst>
          </p:cNvPr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DCC0B0-7168-1835-3220-968CCB98AF4C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051C68-7C40-10D6-DE81-4921D2E8B7A9}"/>
              </a:ext>
            </a:extLst>
          </p:cNvPr>
          <p:cNvSpPr/>
          <p:nvPr/>
        </p:nvSpPr>
        <p:spPr>
          <a:xfrm>
            <a:off x="0" y="850392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0B3CFC-546C-EA49-7893-D9D52172122E}"/>
              </a:ext>
            </a:extLst>
          </p:cNvPr>
          <p:cNvSpPr txBox="1"/>
          <p:nvPr/>
        </p:nvSpPr>
        <p:spPr>
          <a:xfrm>
            <a:off x="365760" y="146304"/>
            <a:ext cx="10972800" cy="4924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lang="en-US" sz="2600" b="1" dirty="0">
                <a:solidFill>
                  <a:srgbClr val="0F172A"/>
                </a:solidFill>
                <a:latin typeface="Calibri"/>
              </a:rPr>
              <a:t>Typing Contest</a:t>
            </a:r>
            <a:endParaRPr sz="2600" b="1" i="0" dirty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B360375-5480-B251-06B5-1FFF961F1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424" y="1481328"/>
            <a:ext cx="8385976" cy="4717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3593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46304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Team &amp; Roles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5661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3566160" cy="384048"/>
          </a:xfrm>
          <a:prstGeom prst="rect">
            <a:avLst/>
          </a:prstGeom>
          <a:solidFill>
            <a:schemeClr val="accent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33856"/>
            <a:ext cx="3383279" cy="320040"/>
          </a:xfrm>
          <a:prstGeom prst="rect">
            <a:avLst/>
          </a:prstGeom>
          <a:solidFill>
            <a:schemeClr val="accent1"/>
          </a:solidFill>
        </p:spPr>
        <p:txBody>
          <a:bodyPr wrap="square" lIns="45720" rIns="45720">
            <a:spAutoFit/>
          </a:bodyPr>
          <a:lstStyle/>
          <a:p>
            <a:pPr algn="ctr"/>
            <a:r>
              <a:rPr sz="1350" b="1" i="0" dirty="0">
                <a:solidFill>
                  <a:srgbClr val="FFFFFF"/>
                </a:solidFill>
                <a:latin typeface="Calibri"/>
              </a:rPr>
              <a:t>Rafsan Riasat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3383279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1" dirty="0">
                <a:solidFill>
                  <a:schemeClr val="accent1"/>
                </a:solidFill>
                <a:latin typeface="Calibri"/>
              </a:rPr>
              <a:t>Scrum Master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38528"/>
            <a:ext cx="3291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  •  Project scaffolding &amp; Firebase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50008"/>
            <a:ext cx="3291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  •  Page routing config (React Router)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61488"/>
            <a:ext cx="3291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  •  Scrum ceremony facilitation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72968"/>
            <a:ext cx="3291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  •  Cross-cutting QA coordination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584448"/>
            <a:ext cx="3291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  •  Firebase security rules 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995928"/>
            <a:ext cx="3291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  •  Final production deployment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33088" y="1097280"/>
            <a:ext cx="35661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33088" y="1097280"/>
            <a:ext cx="3566160" cy="384048"/>
          </a:xfrm>
          <a:prstGeom prst="rect">
            <a:avLst/>
          </a:prstGeom>
          <a:solidFill>
            <a:schemeClr val="accent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24528" y="1133856"/>
            <a:ext cx="3383279" cy="320040"/>
          </a:xfrm>
          <a:prstGeom prst="rect">
            <a:avLst/>
          </a:prstGeom>
          <a:solidFill>
            <a:schemeClr val="accent1"/>
          </a:solidFill>
        </p:spPr>
        <p:txBody>
          <a:bodyPr wrap="square" lIns="45720" rIns="4572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Utsa Roy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1572768"/>
            <a:ext cx="3383279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1" dirty="0">
                <a:solidFill>
                  <a:schemeClr val="accent1"/>
                </a:solidFill>
                <a:latin typeface="Calibri"/>
              </a:rPr>
              <a:t>Backend &amp; Game Engine Dev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1938528"/>
            <a:ext cx="3291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  •  Firebase Auth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2350008"/>
            <a:ext cx="3291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 dirty="0">
                <a:solidFill>
                  <a:srgbClr val="334155"/>
                </a:solidFill>
                <a:latin typeface="Calibri"/>
              </a:rPr>
              <a:t>  •  </a:t>
            </a:r>
            <a:r>
              <a:rPr sz="1050" b="0" i="0" dirty="0" err="1">
                <a:solidFill>
                  <a:srgbClr val="334155"/>
                </a:solidFill>
                <a:latin typeface="Calibri"/>
              </a:rPr>
              <a:t>Firestore</a:t>
            </a:r>
            <a:r>
              <a:rPr sz="1050" b="0" i="0" dirty="0">
                <a:solidFill>
                  <a:srgbClr val="334155"/>
                </a:solidFill>
                <a:latin typeface="Calibri"/>
              </a:rPr>
              <a:t> schema &amp; data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2761488"/>
            <a:ext cx="3291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  •  Matchmaking queue &amp; 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0248" y="3172968"/>
            <a:ext cx="3291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  •  Room creation &amp; join workflows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0248" y="3584448"/>
            <a:ext cx="3291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  •  WPM &amp; Accuracy calculator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0248" y="3995928"/>
            <a:ext cx="3291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  •  Real-time opponent sync 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0248" y="4407408"/>
            <a:ext cx="3291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  •  Rematch &amp; language picker state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00416" y="1097280"/>
            <a:ext cx="35661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900416" y="1097280"/>
            <a:ext cx="3566160" cy="384048"/>
          </a:xfrm>
          <a:prstGeom prst="rect">
            <a:avLst/>
          </a:prstGeom>
          <a:solidFill>
            <a:schemeClr val="accent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91856" y="1133856"/>
            <a:ext cx="3383279" cy="320040"/>
          </a:xfrm>
          <a:prstGeom prst="rect">
            <a:avLst/>
          </a:prstGeom>
          <a:solidFill>
            <a:schemeClr val="accent1"/>
          </a:solidFill>
        </p:spPr>
        <p:txBody>
          <a:bodyPr wrap="square" lIns="45720" rIns="4572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Md Adib Raian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91856" y="1572768"/>
            <a:ext cx="3383279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1" dirty="0">
                <a:solidFill>
                  <a:schemeClr val="accent1"/>
                </a:solidFill>
                <a:latin typeface="Calibri"/>
              </a:rPr>
              <a:t>Frontend &amp; UI Dev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37576" y="1938528"/>
            <a:ext cx="3291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  •  Home, Lobby, Game, Result screen UIs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37576" y="2350008"/>
            <a:ext cx="3291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  •  Leaderboard visual overhaul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37576" y="2761488"/>
            <a:ext cx="3291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  •  Global theme &amp; typography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37576" y="3172968"/>
            <a:ext cx="3291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  •  Mobile responsiveness &amp; layout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37576" y="3584448"/>
            <a:ext cx="3291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  •  Snippet bank data (6 languages)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6172200"/>
            <a:ext cx="11457432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6199632"/>
            <a:ext cx="11457432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 i="0">
                <a:solidFill>
                  <a:srgbClr val="334155"/>
                </a:solidFill>
                <a:latin typeface="Calibri"/>
              </a:rPr>
              <a:t>Jira Ticket Breakdown:   Rafsan Riasat — 16 Issues   |   Utsa Roy — 45 Issues   |   Md Adib Raian — 52 Issues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46304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Agile Scrum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2103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2103120" cy="45720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207007"/>
            <a:ext cx="2103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 i="0">
                <a:solidFill>
                  <a:srgbClr val="0284C7"/>
                </a:solidFill>
                <a:latin typeface="Calibr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64207"/>
            <a:ext cx="2103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50" b="0" i="0">
                <a:solidFill>
                  <a:srgbClr val="334155"/>
                </a:solidFill>
                <a:latin typeface="Calibri"/>
              </a:rPr>
              <a:t>Epics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097280"/>
            <a:ext cx="2103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651760" y="1097280"/>
            <a:ext cx="2103120" cy="45720"/>
          </a:xfrm>
          <a:prstGeom prst="rect">
            <a:avLst/>
          </a:prstGeom>
          <a:solidFill>
            <a:srgbClr val="4F46E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51760" y="1207007"/>
            <a:ext cx="2103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 i="0">
                <a:solidFill>
                  <a:srgbClr val="4F46E5"/>
                </a:solidFill>
                <a:latin typeface="Calibri"/>
              </a:rPr>
              <a:t>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1664207"/>
            <a:ext cx="2103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50" b="0" i="0">
                <a:solidFill>
                  <a:srgbClr val="334155"/>
                </a:solidFill>
                <a:latin typeface="Calibri"/>
              </a:rPr>
              <a:t>Tasks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1097280"/>
            <a:ext cx="2103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37760" y="1097280"/>
            <a:ext cx="2103120" cy="45720"/>
          </a:xfrm>
          <a:prstGeom prst="rect">
            <a:avLst/>
          </a:prstGeom>
          <a:solidFill>
            <a:srgbClr val="05966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60" y="1207007"/>
            <a:ext cx="2103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 i="0">
                <a:solidFill>
                  <a:srgbClr val="059669"/>
                </a:solidFill>
                <a:latin typeface="Calibri"/>
              </a:rPr>
              <a:t>82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1664207"/>
            <a:ext cx="2103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50" b="0" i="0">
                <a:solidFill>
                  <a:srgbClr val="334155"/>
                </a:solidFill>
                <a:latin typeface="Calibri"/>
              </a:rPr>
              <a:t>Subtasks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1097280"/>
            <a:ext cx="2103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223760" y="1097280"/>
            <a:ext cx="2103120" cy="45720"/>
          </a:xfrm>
          <a:prstGeom prst="rect">
            <a:avLst/>
          </a:prstGeom>
          <a:solidFill>
            <a:srgbClr val="D9770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0" y="1207007"/>
            <a:ext cx="2103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 i="0">
                <a:solidFill>
                  <a:srgbClr val="D97706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1664207"/>
            <a:ext cx="2103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50" b="0" i="0">
                <a:solidFill>
                  <a:srgbClr val="334155"/>
                </a:solidFill>
                <a:latin typeface="Calibri"/>
              </a:rPr>
              <a:t>Sprints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1097280"/>
            <a:ext cx="2103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509760" y="1097280"/>
            <a:ext cx="2103120" cy="45720"/>
          </a:xfrm>
          <a:prstGeom prst="rect">
            <a:avLst/>
          </a:prstGeom>
          <a:solidFill>
            <a:srgbClr val="0F172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09760" y="1207007"/>
            <a:ext cx="2103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 i="0">
                <a:solidFill>
                  <a:srgbClr val="0F172A"/>
                </a:solidFill>
                <a:latin typeface="Calibri"/>
              </a:rPr>
              <a:t>113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1664207"/>
            <a:ext cx="2103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50" b="0" i="0">
                <a:solidFill>
                  <a:srgbClr val="334155"/>
                </a:solidFill>
                <a:latin typeface="Calibri"/>
              </a:rPr>
              <a:t>Total Issues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228600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Project Epics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651760"/>
            <a:ext cx="1097280" cy="320040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" y="2679192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Calibri"/>
              </a:rPr>
              <a:t>Epic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08760" y="2651760"/>
            <a:ext cx="4023360" cy="320040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554480" y="2679192"/>
            <a:ext cx="3931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Calibri"/>
              </a:rPr>
              <a:t>Name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2651760"/>
            <a:ext cx="1097280" cy="320040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23559" y="2679192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Calibri"/>
              </a:rPr>
              <a:t>Tasks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20840" y="2651760"/>
            <a:ext cx="1280160" cy="320040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66559" y="2679192"/>
            <a:ext cx="118871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Calibri"/>
              </a:rPr>
              <a:t>Sprints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971800"/>
            <a:ext cx="10972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1480" y="3008376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284C7"/>
                </a:solidFill>
                <a:latin typeface="Calibri"/>
              </a:rPr>
              <a:t>SCRUM-1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08760" y="2971800"/>
            <a:ext cx="40233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554480" y="3008376"/>
            <a:ext cx="3931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Project Setup &amp; Auth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77840" y="2971800"/>
            <a:ext cx="10972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623559" y="3008376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4 Tasks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20840" y="2971800"/>
            <a:ext cx="12801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766559" y="3008376"/>
            <a:ext cx="118871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Sprint 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3300984"/>
            <a:ext cx="109728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11480" y="3337560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284C7"/>
                </a:solidFill>
                <a:latin typeface="Calibri"/>
              </a:rPr>
              <a:t>SCRUM-2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08760" y="3300984"/>
            <a:ext cx="402336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554480" y="3337560"/>
            <a:ext cx="3931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Matchmaking System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77840" y="3300984"/>
            <a:ext cx="109728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623559" y="3337560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3 Tasks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20840" y="3300984"/>
            <a:ext cx="128016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766559" y="3337560"/>
            <a:ext cx="118871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Sprint 1-2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3630168"/>
            <a:ext cx="10972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11480" y="3666744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284C7"/>
                </a:solidFill>
                <a:latin typeface="Calibri"/>
              </a:rPr>
              <a:t>SCRUM-3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508760" y="3630168"/>
            <a:ext cx="40233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554480" y="3666744"/>
            <a:ext cx="3931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Game Engine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577840" y="3630168"/>
            <a:ext cx="10972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623559" y="3666744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6 Tasks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20840" y="3630168"/>
            <a:ext cx="12801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766559" y="3666744"/>
            <a:ext cx="118871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Sprint 2-3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3959352"/>
            <a:ext cx="109728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11480" y="3995928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284C7"/>
                </a:solidFill>
                <a:latin typeface="Calibri"/>
              </a:rPr>
              <a:t>SCRUM-4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508760" y="3959352"/>
            <a:ext cx="402336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554480" y="3995928"/>
            <a:ext cx="3931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UI &amp; Frontend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577840" y="3959352"/>
            <a:ext cx="109728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623559" y="3995928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8 Tasks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720840" y="3959352"/>
            <a:ext cx="1280160" cy="32918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766559" y="3995928"/>
            <a:ext cx="118871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Sprint 1-3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4288536"/>
            <a:ext cx="10972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11480" y="4325112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284C7"/>
                </a:solidFill>
                <a:latin typeface="Calibri"/>
              </a:rPr>
              <a:t>SCRUM-5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08760" y="4288536"/>
            <a:ext cx="40233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554480" y="4325112"/>
            <a:ext cx="3931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Code Snippet Bank &amp; Leaderboard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577840" y="4288536"/>
            <a:ext cx="10972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623559" y="4325112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5 Tasks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20840" y="4288536"/>
            <a:ext cx="12801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766559" y="4325112"/>
            <a:ext cx="118871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Sprint 1-3</a:t>
            </a:r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A4D2BF11-5A8F-BF22-05DD-41A4C57C9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872343"/>
            <a:ext cx="6209969" cy="1557299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02F942E6-4C8C-6344-0833-B1EAC4966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6742" y="3531490"/>
            <a:ext cx="3630603" cy="289815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46304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 i="0" dirty="0">
                <a:solidFill>
                  <a:srgbClr val="0F172A"/>
                </a:solidFill>
                <a:latin typeface="Calibri"/>
              </a:rPr>
              <a:t>Sprint 1 — Project Foundation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11457432" cy="411480"/>
          </a:xfrm>
          <a:prstGeom prst="rect">
            <a:avLst/>
          </a:prstGeom>
          <a:solidFill>
            <a:srgbClr val="F0F9FF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033271"/>
            <a:ext cx="11155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1">
                <a:solidFill>
                  <a:srgbClr val="0284C7"/>
                </a:solidFill>
                <a:latin typeface="Calibri"/>
              </a:rPr>
              <a:t>Sprint Goal:  Establish initial structure, configure Routing, database schemas, Authentication logic, and build initial layout.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1097280" cy="320040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581912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Calibri"/>
              </a:rPr>
              <a:t>Ticket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1554480"/>
            <a:ext cx="6400800" cy="320040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00200" y="1581912"/>
            <a:ext cx="6309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Calibri"/>
              </a:rPr>
              <a:t>Task Description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554480"/>
            <a:ext cx="1920240" cy="320040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92440" y="1581912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Calibri"/>
              </a:rPr>
              <a:t>Assignee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874519"/>
            <a:ext cx="10972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1911095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284C7"/>
                </a:solidFill>
                <a:latin typeface="Calibri"/>
              </a:rPr>
              <a:t>SCRUM-6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1874519"/>
            <a:ext cx="64008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00200" y="1911095"/>
            <a:ext cx="6309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Firebase project setup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874519"/>
            <a:ext cx="19202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92440" y="1911095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59669"/>
                </a:solidFill>
                <a:latin typeface="Calibri"/>
              </a:rPr>
              <a:t>Rafsan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203703"/>
            <a:ext cx="109728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2240279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284C7"/>
                </a:solidFill>
                <a:latin typeface="Calibri"/>
              </a:rPr>
              <a:t>SCRUM-7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54480" y="2203703"/>
            <a:ext cx="640080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600200" y="2240279"/>
            <a:ext cx="6309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React project setup and firebase connection.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2203703"/>
            <a:ext cx="192024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92440" y="2240279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59669"/>
                </a:solidFill>
                <a:latin typeface="Calibri"/>
              </a:rPr>
              <a:t>Rafsan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532887"/>
            <a:ext cx="10972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2569463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284C7"/>
                </a:solidFill>
                <a:latin typeface="Calibri"/>
              </a:rPr>
              <a:t>SCRUM-8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54480" y="2532887"/>
            <a:ext cx="64008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600200" y="2569463"/>
            <a:ext cx="6309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Firebase Authentication Integration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2532887"/>
            <a:ext cx="19202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92440" y="2569463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59669"/>
                </a:solidFill>
                <a:latin typeface="Calibri"/>
              </a:rPr>
              <a:t>Utsa Roy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862072"/>
            <a:ext cx="109728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2898648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284C7"/>
                </a:solidFill>
                <a:latin typeface="Calibri"/>
              </a:rPr>
              <a:t>SCRUM-9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54480" y="2862072"/>
            <a:ext cx="640080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600200" y="2898648"/>
            <a:ext cx="6309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Design the Firestore database schema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2862072"/>
            <a:ext cx="192024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92440" y="2898648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59669"/>
                </a:solidFill>
                <a:latin typeface="Calibri"/>
              </a:rPr>
              <a:t>Utsa Roy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191256"/>
            <a:ext cx="10972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1480" y="3227832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284C7"/>
                </a:solidFill>
                <a:latin typeface="Calibri"/>
              </a:rPr>
              <a:t>SCRUM-10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54480" y="3191256"/>
            <a:ext cx="64008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600200" y="3227832"/>
            <a:ext cx="6309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Quick match — waiting queue logic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46720" y="3191256"/>
            <a:ext cx="19202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92440" y="3227832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59669"/>
                </a:solidFill>
                <a:latin typeface="Calibri"/>
              </a:rPr>
              <a:t>Utsa Roy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520439"/>
            <a:ext cx="109728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11480" y="3557015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284C7"/>
                </a:solidFill>
                <a:latin typeface="Calibri"/>
              </a:rPr>
              <a:t>SCRUM-11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554480" y="3520439"/>
            <a:ext cx="640080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600200" y="3557015"/>
            <a:ext cx="6309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Setup page routing in React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46720" y="3520439"/>
            <a:ext cx="192024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092440" y="3557015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59669"/>
                </a:solidFill>
                <a:latin typeface="Calibri"/>
              </a:rPr>
              <a:t>Rafsan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3849624"/>
            <a:ext cx="10972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11480" y="3886200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284C7"/>
                </a:solidFill>
                <a:latin typeface="Calibri"/>
              </a:rPr>
              <a:t>SCRUM-12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554480" y="3849624"/>
            <a:ext cx="64008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600200" y="3886200"/>
            <a:ext cx="6309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Home screen UI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46720" y="3849624"/>
            <a:ext cx="19202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092440" y="388620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59669"/>
                </a:solidFill>
                <a:latin typeface="Calibri"/>
              </a:rPr>
              <a:t>Adib Raian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4178808"/>
            <a:ext cx="109728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11480" y="4215384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284C7"/>
                </a:solidFill>
                <a:latin typeface="Calibri"/>
              </a:rPr>
              <a:t>SCRUM-13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54480" y="4178808"/>
            <a:ext cx="640080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600200" y="4215384"/>
            <a:ext cx="6309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Setup global theme styles and fonts.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46720" y="4178808"/>
            <a:ext cx="192024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092440" y="4215384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59669"/>
                </a:solidFill>
                <a:latin typeface="Calibri"/>
              </a:rPr>
              <a:t>Adib Raian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4507992"/>
            <a:ext cx="10972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11480" y="4544568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284C7"/>
                </a:solidFill>
                <a:latin typeface="Calibri"/>
              </a:rPr>
              <a:t>SCRUM-14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554480" y="4507992"/>
            <a:ext cx="64008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600200" y="4544568"/>
            <a:ext cx="6309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Add C and python codes in snippet bank.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46720" y="4507992"/>
            <a:ext cx="19202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092440" y="4544568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59669"/>
                </a:solidFill>
                <a:latin typeface="Calibri"/>
              </a:rPr>
              <a:t>Adib Raian</a:t>
            </a: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C1A34A9F-4EE4-895C-81EA-1EDF62CB1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" y="4873773"/>
            <a:ext cx="12188825" cy="1984227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6A98655A-1251-75A5-EE5F-4050A2BCEB14}"/>
              </a:ext>
            </a:extLst>
          </p:cNvPr>
          <p:cNvSpPr txBox="1"/>
          <p:nvPr/>
        </p:nvSpPr>
        <p:spPr>
          <a:xfrm>
            <a:off x="10252809" y="5083859"/>
            <a:ext cx="15703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rgbClr val="0F172A"/>
                </a:solidFill>
                <a:latin typeface="Calibri"/>
              </a:rPr>
              <a:t>Story Points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46304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Sprint 2 — Core Multiplayer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11457432" cy="411480"/>
          </a:xfrm>
          <a:prstGeom prst="rect">
            <a:avLst/>
          </a:prstGeom>
          <a:solidFill>
            <a:srgbClr val="EEF2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033271"/>
            <a:ext cx="11155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1">
                <a:solidFill>
                  <a:srgbClr val="4F46E5"/>
                </a:solidFill>
                <a:latin typeface="Calibri"/>
              </a:rPr>
              <a:t>Sprint Goal:  Implement real-time game logic, matchmaking queues, room creation, opponent tracking, and core stats calculations.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1097280" cy="320040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581912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Calibri"/>
              </a:rPr>
              <a:t>Ticket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1554480"/>
            <a:ext cx="6400800" cy="320040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00200" y="1581912"/>
            <a:ext cx="6309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Calibri"/>
              </a:rPr>
              <a:t>Task Description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554480"/>
            <a:ext cx="1920240" cy="320040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92440" y="1581912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Calibri"/>
              </a:rPr>
              <a:t>Assignee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874519"/>
            <a:ext cx="10972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1911095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4F46E5"/>
                </a:solidFill>
                <a:latin typeface="Calibri"/>
              </a:rPr>
              <a:t>SCRUM-15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1874519"/>
            <a:ext cx="64008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00200" y="1911095"/>
            <a:ext cx="6309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Room Creation Logic  (+5 subtasks)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874519"/>
            <a:ext cx="19202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92440" y="1911095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59669"/>
                </a:solidFill>
                <a:latin typeface="Calibri"/>
              </a:rPr>
              <a:t>Utsa Roy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203703"/>
            <a:ext cx="109728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2240279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4F46E5"/>
                </a:solidFill>
                <a:latin typeface="Calibri"/>
              </a:rPr>
              <a:t>SCRUM-16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54480" y="2203703"/>
            <a:ext cx="640080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600200" y="2240279"/>
            <a:ext cx="6309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Room Join Logic  (+5 subtasks)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2203703"/>
            <a:ext cx="192024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92440" y="2240279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59669"/>
                </a:solidFill>
                <a:latin typeface="Calibri"/>
              </a:rPr>
              <a:t>Utsa Roy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532887"/>
            <a:ext cx="10972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2569463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4F46E5"/>
                </a:solidFill>
                <a:latin typeface="Calibri"/>
              </a:rPr>
              <a:t>SCRUM-17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54480" y="2532887"/>
            <a:ext cx="64008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600200" y="2569463"/>
            <a:ext cx="6309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Ready State Logic  (+5 subtasks)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2532887"/>
            <a:ext cx="19202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92440" y="2569463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59669"/>
                </a:solidFill>
                <a:latin typeface="Calibri"/>
              </a:rPr>
              <a:t>Utsa Roy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862072"/>
            <a:ext cx="109728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2898648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4F46E5"/>
                </a:solidFill>
                <a:latin typeface="Calibri"/>
              </a:rPr>
              <a:t>SCRUM-18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54480" y="2862072"/>
            <a:ext cx="640080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600200" y="2898648"/>
            <a:ext cx="6309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WPM &amp; Accuracy Calculation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2862072"/>
            <a:ext cx="192024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92440" y="2898648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59669"/>
                </a:solidFill>
                <a:latin typeface="Calibri"/>
              </a:rPr>
              <a:t>Utsa Roy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191256"/>
            <a:ext cx="10972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1480" y="3227832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4F46E5"/>
                </a:solidFill>
                <a:latin typeface="Calibri"/>
              </a:rPr>
              <a:t>SCRUM-19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54480" y="3191256"/>
            <a:ext cx="64008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600200" y="3227832"/>
            <a:ext cx="6309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Leaderboard Logic  (+5 subtasks)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46720" y="3191256"/>
            <a:ext cx="19202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92440" y="3227832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59669"/>
                </a:solidFill>
                <a:latin typeface="Calibri"/>
              </a:rPr>
              <a:t>Utsa Roy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520439"/>
            <a:ext cx="109728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11480" y="3557015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4F46E5"/>
                </a:solidFill>
                <a:latin typeface="Calibri"/>
              </a:rPr>
              <a:t>SCRUM-20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554480" y="3520439"/>
            <a:ext cx="640080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600200" y="3557015"/>
            <a:ext cx="6309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Lobby Screen UI  (+3 subtasks)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46720" y="3520439"/>
            <a:ext cx="192024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092440" y="3557015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59669"/>
                </a:solidFill>
                <a:latin typeface="Calibri"/>
              </a:rPr>
              <a:t>Adib Raian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3849624"/>
            <a:ext cx="10972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11480" y="3886200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4F46E5"/>
                </a:solidFill>
                <a:latin typeface="Calibri"/>
              </a:rPr>
              <a:t>SCRUM-21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554480" y="3849624"/>
            <a:ext cx="64008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600200" y="3886200"/>
            <a:ext cx="6309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Game Screen UI  (+5 subtasks)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46720" y="3849624"/>
            <a:ext cx="19202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092440" y="388620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59669"/>
                </a:solidFill>
                <a:latin typeface="Calibri"/>
              </a:rPr>
              <a:t>Adib Raian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4178808"/>
            <a:ext cx="109728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11480" y="4215384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4F46E5"/>
                </a:solidFill>
                <a:latin typeface="Calibri"/>
              </a:rPr>
              <a:t>SCRUM-22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54480" y="4178808"/>
            <a:ext cx="640080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600200" y="4215384"/>
            <a:ext cx="6309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Real-time Opponent Status  (+4 subtasks)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46720" y="4178808"/>
            <a:ext cx="192024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092440" y="4215384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59669"/>
                </a:solidFill>
                <a:latin typeface="Calibri"/>
              </a:rPr>
              <a:t>Utsa Roy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4507992"/>
            <a:ext cx="10972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11480" y="4544568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4F46E5"/>
                </a:solidFill>
                <a:latin typeface="Calibri"/>
              </a:rPr>
              <a:t>SCRUM-23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554480" y="4507992"/>
            <a:ext cx="64008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600200" y="4544568"/>
            <a:ext cx="6309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Add JS and PHP snippets to bank (+4 sub)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46720" y="4507992"/>
            <a:ext cx="19202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092440" y="4544568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59669"/>
                </a:solidFill>
                <a:latin typeface="Calibri"/>
              </a:rPr>
              <a:t>Adib Raian</a:t>
            </a: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9E41EFC2-EA04-FDD2-977D-0F64C5E42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27" y="4876361"/>
            <a:ext cx="11612770" cy="1924768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5E5BB832-305C-1C7E-E7A5-F02CBACF47C6}"/>
              </a:ext>
            </a:extLst>
          </p:cNvPr>
          <p:cNvSpPr txBox="1"/>
          <p:nvPr/>
        </p:nvSpPr>
        <p:spPr>
          <a:xfrm>
            <a:off x="10252809" y="5083859"/>
            <a:ext cx="15703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rgbClr val="0F172A"/>
                </a:solidFill>
                <a:latin typeface="Calibri"/>
              </a:rPr>
              <a:t>Story Points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46304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Sprint 3 — Polish, Testing &amp; Deployment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11457432" cy="411480"/>
          </a:xfrm>
          <a:prstGeom prst="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033271"/>
            <a:ext cx="11155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1">
                <a:solidFill>
                  <a:srgbClr val="059669"/>
                </a:solidFill>
                <a:latin typeface="Calibri"/>
              </a:rPr>
              <a:t>Sprint Goal:  Focus on rematch mechanisms, language selectors, visual polishing, mobile testing, and final hosting deployment.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1097280" cy="320040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581912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Calibri"/>
              </a:rPr>
              <a:t>Ticket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1554480"/>
            <a:ext cx="6400800" cy="320040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00200" y="1581912"/>
            <a:ext cx="6309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Calibri"/>
              </a:rPr>
              <a:t>Task Description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554480"/>
            <a:ext cx="1920240" cy="320040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92440" y="1581912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Calibri"/>
              </a:rPr>
              <a:t>Assignee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874519"/>
            <a:ext cx="10972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1911095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59669"/>
                </a:solidFill>
                <a:latin typeface="Calibri"/>
              </a:rPr>
              <a:t>SCRUM-24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1874519"/>
            <a:ext cx="64008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00200" y="1911095"/>
            <a:ext cx="6309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Result Screen Design  (+4 subtasks)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874519"/>
            <a:ext cx="19202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92440" y="1911095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284C7"/>
                </a:solidFill>
                <a:latin typeface="Calibri"/>
              </a:rPr>
              <a:t>Adib Raian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203703"/>
            <a:ext cx="109728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2240279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59669"/>
                </a:solidFill>
                <a:latin typeface="Calibri"/>
              </a:rPr>
              <a:t>SCRUM-25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54480" y="2203703"/>
            <a:ext cx="640080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600200" y="2240279"/>
            <a:ext cx="6309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Visual Overhaul of Leaderboard  (+4 subtasks)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2203703"/>
            <a:ext cx="192024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92440" y="2240279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284C7"/>
                </a:solidFill>
                <a:latin typeface="Calibri"/>
              </a:rPr>
              <a:t>Adib Raian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532887"/>
            <a:ext cx="10972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2569463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59669"/>
                </a:solidFill>
                <a:latin typeface="Calibri"/>
              </a:rPr>
              <a:t>SCRUM-26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54480" y="2532887"/>
            <a:ext cx="64008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600200" y="2569463"/>
            <a:ext cx="6309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Rematch Button Logic  (+5 subtasks)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2532887"/>
            <a:ext cx="19202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92440" y="2569463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284C7"/>
                </a:solidFill>
                <a:latin typeface="Calibri"/>
              </a:rPr>
              <a:t>Utsa Roy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862072"/>
            <a:ext cx="109728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2898648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59669"/>
                </a:solidFill>
                <a:latin typeface="Calibri"/>
              </a:rPr>
              <a:t>SCRUM-27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54480" y="2862072"/>
            <a:ext cx="640080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600200" y="2898648"/>
            <a:ext cx="6309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Language Picker Logic  (+5 subtasks)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2862072"/>
            <a:ext cx="192024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92440" y="2898648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284C7"/>
                </a:solidFill>
                <a:latin typeface="Calibri"/>
              </a:rPr>
              <a:t>Utsa Roy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191256"/>
            <a:ext cx="10972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1480" y="3227832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59669"/>
                </a:solidFill>
                <a:latin typeface="Calibri"/>
              </a:rPr>
              <a:t>SCRUM-28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54480" y="3191256"/>
            <a:ext cx="64008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600200" y="3227832"/>
            <a:ext cx="6309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Error Handling &amp; Edge Cases  (+5 subtasks)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46720" y="3191256"/>
            <a:ext cx="19202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92440" y="3227832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284C7"/>
                </a:solidFill>
                <a:latin typeface="Calibri"/>
              </a:rPr>
              <a:t>Utsa Roy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520439"/>
            <a:ext cx="109728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11480" y="3557015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59669"/>
                </a:solidFill>
                <a:latin typeface="Calibri"/>
              </a:rPr>
              <a:t>SCRUM-29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554480" y="3520439"/>
            <a:ext cx="640080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600200" y="3557015"/>
            <a:ext cx="6309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Mobile Responsiveness  (+4 subtasks)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46720" y="3520439"/>
            <a:ext cx="192024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092440" y="3557015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284C7"/>
                </a:solidFill>
                <a:latin typeface="Calibri"/>
              </a:rPr>
              <a:t>Adib Raian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3849624"/>
            <a:ext cx="10972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11480" y="3886200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59669"/>
                </a:solidFill>
                <a:latin typeface="Calibri"/>
              </a:rPr>
              <a:t>SCRUM-30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554480" y="3849624"/>
            <a:ext cx="64008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600200" y="3886200"/>
            <a:ext cx="6309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Add C++ &amp; Java snippets  (+4 subtasks)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46720" y="3849624"/>
            <a:ext cx="19202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092440" y="388620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284C7"/>
                </a:solidFill>
                <a:latin typeface="Calibri"/>
              </a:rPr>
              <a:t>Adib Raian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4178808"/>
            <a:ext cx="109728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11480" y="4215384"/>
            <a:ext cx="10058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59669"/>
                </a:solidFill>
                <a:latin typeface="Calibri"/>
              </a:rPr>
              <a:t>SCRUM-31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54480" y="4178808"/>
            <a:ext cx="640080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600200" y="4215384"/>
            <a:ext cx="6309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Final Testing &amp; Deployment  (+4 subtasks)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46720" y="4178808"/>
            <a:ext cx="1920240" cy="320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092440" y="4215384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0284C7"/>
                </a:solidFill>
                <a:latin typeface="Calibri"/>
              </a:rPr>
              <a:t>Rafsan</a:t>
            </a: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2EF860C6-2735-0E0A-987B-9E630EF3C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82" y="4997052"/>
            <a:ext cx="11847443" cy="1710215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A7D649E4-1CF9-0C71-97A3-32031E6F5DCE}"/>
              </a:ext>
            </a:extLst>
          </p:cNvPr>
          <p:cNvSpPr txBox="1"/>
          <p:nvPr/>
        </p:nvSpPr>
        <p:spPr>
          <a:xfrm>
            <a:off x="10252809" y="5083859"/>
            <a:ext cx="15703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rgbClr val="0F172A"/>
                </a:solidFill>
                <a:latin typeface="Calibri"/>
              </a:rPr>
              <a:t>Story Points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46304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Task Division &amp; Contributions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657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57600" cy="45720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115568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 i="0">
                <a:solidFill>
                  <a:srgbClr val="0284C7"/>
                </a:solidFill>
                <a:latin typeface="Calibri"/>
              </a:rPr>
              <a:t>16 Issues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72768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50" b="0" i="0">
                <a:solidFill>
                  <a:srgbClr val="334155"/>
                </a:solidFill>
                <a:latin typeface="Calibri"/>
              </a:rPr>
              <a:t>Rafsan Riasat
Scrum Master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005840"/>
            <a:ext cx="3657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51960" y="1005840"/>
            <a:ext cx="3657600" cy="45720"/>
          </a:xfrm>
          <a:prstGeom prst="rect">
            <a:avLst/>
          </a:prstGeom>
          <a:solidFill>
            <a:srgbClr val="4F46E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51960" y="1115568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 i="0">
                <a:solidFill>
                  <a:srgbClr val="4F46E5"/>
                </a:solidFill>
                <a:latin typeface="Calibri"/>
              </a:rPr>
              <a:t>45 Issues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572768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50" b="0" i="0">
                <a:solidFill>
                  <a:srgbClr val="334155"/>
                </a:solidFill>
                <a:latin typeface="Calibri"/>
              </a:rPr>
              <a:t>Utsa Roy
Backend Developer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657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005840"/>
            <a:ext cx="3657600" cy="45720"/>
          </a:xfrm>
          <a:prstGeom prst="rect">
            <a:avLst/>
          </a:prstGeom>
          <a:solidFill>
            <a:srgbClr val="05966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0" y="1115568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 i="0">
                <a:solidFill>
                  <a:srgbClr val="059669"/>
                </a:solidFill>
                <a:latin typeface="Calibri"/>
              </a:rPr>
              <a:t>52 Issues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572768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50" b="0" i="0">
                <a:solidFill>
                  <a:srgbClr val="334155"/>
                </a:solidFill>
                <a:latin typeface="Calibri"/>
              </a:rPr>
              <a:t>Md Adib Raian
Frontend Developer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24028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2240280"/>
            <a:ext cx="73152" cy="4297680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2350008"/>
            <a:ext cx="3429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284C7"/>
                </a:solidFill>
                <a:latin typeface="Calibri"/>
              </a:rPr>
              <a:t>Rafsan Riasat (Scrum Master)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2743200"/>
            <a:ext cx="342900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  •  Firebase configuration &amp; project scaffolding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  •  Setup page routing in React (React Router v6)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  •  Lobby ready status UI indicators logic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  •  Created functional testing checklist E2E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  •  Conducted E2E multiplayer test sessions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  •  Security audit of Firestore &amp; Realtime DB rules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  •  Created hosting deployment via Firebase CLI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224028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51960" y="2240280"/>
            <a:ext cx="73152" cy="4297680"/>
          </a:xfrm>
          <a:prstGeom prst="rect">
            <a:avLst/>
          </a:prstGeom>
          <a:solidFill>
            <a:srgbClr val="4F46E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16552" y="2350008"/>
            <a:ext cx="3429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Utsa Roy (Backend Dev)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2743200"/>
            <a:ext cx="342900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  •  Firebase Authentication login/signup flows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  •  Firestore database schemas design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  •  Matchmaking queue state logic (Realtime DB)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  •  Room creation &amp; room validation (6-character IDs)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  •  Typing accuracy &amp; WPM calculation logic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  •  Realtime opponent progress synchronizer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  •  Post-match rematch engine &amp; languages matchmaking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224028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38160" y="2240280"/>
            <a:ext cx="73152" cy="4297680"/>
          </a:xfrm>
          <a:prstGeom prst="rect">
            <a:avLst/>
          </a:prstGeom>
          <a:solidFill>
            <a:srgbClr val="05966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02752" y="2350008"/>
            <a:ext cx="3429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Md Adib Raian (Frontend Dev)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2743200"/>
            <a:ext cx="342900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  •  Designed hacker/dark theme styled UI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  •  Global CSS configuration &amp; Typography rules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  •  Home, Lobby, Game &amp; Result screen components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  •  Leaderboard overlay animations &amp; UI polish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  •  Completed responsiveness across all viewports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  •  Curated and integrated snippets bank (6 langs)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  •  Built language selection UI dropdowns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E40458C-AA03-5717-D0EE-2302C1D34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4572000"/>
            <a:ext cx="3355848" cy="150538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C254F5F-180B-2A58-7841-431901ED7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4572000"/>
            <a:ext cx="3180059" cy="160874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3E0B277-CB82-3BAD-C3DA-502D062EC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146" y="4572000"/>
            <a:ext cx="3291125" cy="15053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3" y="906236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46304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Jira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722363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73152" cy="5486400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1115568"/>
            <a:ext cx="37947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284C7"/>
                </a:solidFill>
                <a:latin typeface="Calibri"/>
              </a:rPr>
              <a:t>Jira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508760"/>
            <a:ext cx="3794760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  •  Sprints were time-boxed to 1-2 weeks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  •  Backlog partitioned into 5 Epics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  •  Tasks broke down large requirements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  •  Subtasks defined atomic coder actions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  •  Estimates assigned to developers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  •  Work progressed through standard columns: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  •    To Do  →  In Progress  →  Done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  •  Sprint reviews determined carry-overs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7993" y="1162268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Jira Issue Hierarchy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7993" y="1619468"/>
            <a:ext cx="38404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17993" y="1619468"/>
            <a:ext cx="914400" cy="1097280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7993" y="1939508"/>
            <a:ext cx="914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Epic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833" y="1893788"/>
            <a:ext cx="2743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High-Level Product Goals (5)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752" y="2716748"/>
            <a:ext cx="45720" cy="228600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313" y="2945348"/>
            <a:ext cx="35661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313" y="2945348"/>
            <a:ext cx="914400" cy="1097280"/>
          </a:xfrm>
          <a:prstGeom prst="rect">
            <a:avLst/>
          </a:prstGeom>
          <a:solidFill>
            <a:srgbClr val="4F46E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92313" y="3265388"/>
            <a:ext cx="914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152" y="3219667"/>
            <a:ext cx="24688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Feature Deliverables (26)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58072" y="4042628"/>
            <a:ext cx="45720" cy="228600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366633" y="4271228"/>
            <a:ext cx="32918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66633" y="4271228"/>
            <a:ext cx="914400" cy="1097280"/>
          </a:xfrm>
          <a:prstGeom prst="rect">
            <a:avLst/>
          </a:prstGeom>
          <a:solidFill>
            <a:srgbClr val="05966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66633" y="4591268"/>
            <a:ext cx="914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Subtask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472" y="4545548"/>
            <a:ext cx="21945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Developer Actions (82)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AC23BA0-7632-A896-08D1-A1827882E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335" y="3448268"/>
            <a:ext cx="6716737" cy="291195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46304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Git / GitHub Workflow &amp; Branching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73152" cy="3200400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1115568"/>
            <a:ext cx="37947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284C7"/>
                </a:solidFill>
                <a:latin typeface="Calibri"/>
              </a:rPr>
              <a:t>Branching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508760"/>
            <a:ext cx="379476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  •  main  —  production release branch (protected)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  •  Feature branches mapped to Jira IDs: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  •    SCRUM-{number}-{slug}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  •  No direct commits allowed to main branch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  •  Code changes isolated inside feature branch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  •  Pull Requests opened for code reviews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  •  PR merged to main updates Jira issue 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005840"/>
            <a:ext cx="7223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1" i="0">
                <a:solidFill>
                  <a:srgbClr val="0F172A"/>
                </a:solidFill>
                <a:latin typeface="Calibri"/>
              </a:rPr>
              <a:t>Feature Branches (13)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371600"/>
            <a:ext cx="72237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389888"/>
            <a:ext cx="72237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4F46E5"/>
                </a:solidFill>
                <a:latin typeface="Consolas"/>
              </a:rPr>
              <a:t>  SCRUM-8-firebase-authentication-integration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7223760" cy="25603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664208"/>
            <a:ext cx="72237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4F46E5"/>
                </a:solidFill>
                <a:latin typeface="Consolas"/>
              </a:rPr>
              <a:t>  SCRUM-16-room-join-logic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1920240"/>
            <a:ext cx="72237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0" y="1938528"/>
            <a:ext cx="72237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4F46E5"/>
                </a:solidFill>
                <a:latin typeface="Consolas"/>
              </a:rPr>
              <a:t>  SCRUM-19-leaderboard-logic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2194560"/>
            <a:ext cx="7223760" cy="25603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0" y="2212848"/>
            <a:ext cx="72237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4F46E5"/>
                </a:solidFill>
                <a:latin typeface="Consolas"/>
              </a:rPr>
              <a:t>  SCRUM-20-lobby-screen-ui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468880"/>
            <a:ext cx="72237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2487168"/>
            <a:ext cx="72237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4F46E5"/>
                </a:solidFill>
                <a:latin typeface="Consolas"/>
              </a:rPr>
              <a:t>  SCRUM-21-game-screen-ui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2743200"/>
            <a:ext cx="7223760" cy="25603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2761488"/>
            <a:ext cx="72237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4F46E5"/>
                </a:solidFill>
                <a:latin typeface="Consolas"/>
              </a:rPr>
              <a:t>  SCRUM-22-real-time-opponent-status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3017520"/>
            <a:ext cx="72237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0" y="3035808"/>
            <a:ext cx="72237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4F46E5"/>
                </a:solidFill>
                <a:latin typeface="Consolas"/>
              </a:rPr>
              <a:t>  SCRUM-23-add-js-php-snippets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291840"/>
            <a:ext cx="7223760" cy="25603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0" y="3310128"/>
            <a:ext cx="72237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4F46E5"/>
                </a:solidFill>
                <a:latin typeface="Consolas"/>
              </a:rPr>
              <a:t>  SCRUM-24-result-screen-design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3566160"/>
            <a:ext cx="72237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0" y="3584448"/>
            <a:ext cx="72237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4F46E5"/>
                </a:solidFill>
                <a:latin typeface="Consolas"/>
              </a:rPr>
              <a:t>  SCRUM-25-leaderboard-visual-overhaul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3840479"/>
            <a:ext cx="7223760" cy="25603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0" y="3858767"/>
            <a:ext cx="72237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4F46E5"/>
                </a:solidFill>
                <a:latin typeface="Consolas"/>
              </a:rPr>
              <a:t>  SCRUM-26-rematch-button-logic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4114800"/>
            <a:ext cx="72237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0" y="4133087"/>
            <a:ext cx="72237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4F46E5"/>
                </a:solidFill>
                <a:latin typeface="Consolas"/>
              </a:rPr>
              <a:t>  SCRUM-28-error-handling-edge-cases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4389120"/>
            <a:ext cx="7223760" cy="25603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0" y="4407407"/>
            <a:ext cx="72237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4F46E5"/>
                </a:solidFill>
                <a:latin typeface="Consolas"/>
              </a:rPr>
              <a:t>  SCRUM-29-mobile-responsiveness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4663440"/>
            <a:ext cx="72237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0" y="4681727"/>
            <a:ext cx="72237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4F46E5"/>
                </a:solidFill>
                <a:latin typeface="Consolas"/>
              </a:rPr>
              <a:t>  SCRUM-30-add-cpp-java-snippets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CB5258A1-2679-5B80-49DC-6E40FA89B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5003000"/>
            <a:ext cx="4697631" cy="179603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7E6BB42-2CA0-367D-81EF-3E071CDF6903}"/>
              </a:ext>
            </a:extLst>
          </p:cNvPr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30E890-3286-7BC0-3FDA-EBBF8FBF1D22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7687FF-E97A-DA63-608A-8DF96F89D420}"/>
              </a:ext>
            </a:extLst>
          </p:cNvPr>
          <p:cNvSpPr/>
          <p:nvPr/>
        </p:nvSpPr>
        <p:spPr>
          <a:xfrm>
            <a:off x="0" y="850392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8EF14E-3957-86C3-05C5-E816F96DE496}"/>
              </a:ext>
            </a:extLst>
          </p:cNvPr>
          <p:cNvSpPr txBox="1"/>
          <p:nvPr/>
        </p:nvSpPr>
        <p:spPr>
          <a:xfrm>
            <a:off x="365760" y="146304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Commit Traceability &amp; History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5228F8-B614-6BB7-31C3-8480D1C255CB}"/>
              </a:ext>
            </a:extLst>
          </p:cNvPr>
          <p:cNvSpPr/>
          <p:nvPr/>
        </p:nvSpPr>
        <p:spPr>
          <a:xfrm>
            <a:off x="365760" y="100584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5A3FC2-714E-AD58-905F-F46933F8D459}"/>
              </a:ext>
            </a:extLst>
          </p:cNvPr>
          <p:cNvSpPr/>
          <p:nvPr/>
        </p:nvSpPr>
        <p:spPr>
          <a:xfrm>
            <a:off x="365760" y="1005840"/>
            <a:ext cx="2468880" cy="45720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E42590-9CD8-4182-D381-392C95F53142}"/>
              </a:ext>
            </a:extLst>
          </p:cNvPr>
          <p:cNvSpPr txBox="1"/>
          <p:nvPr/>
        </p:nvSpPr>
        <p:spPr>
          <a:xfrm>
            <a:off x="365760" y="1115568"/>
            <a:ext cx="24688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 i="0">
                <a:solidFill>
                  <a:srgbClr val="0284C7"/>
                </a:solidFill>
                <a:latin typeface="Calibri"/>
              </a:rPr>
              <a:t>31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90F232-C8F9-5C86-18E1-A5A4E7DE59A7}"/>
              </a:ext>
            </a:extLst>
          </p:cNvPr>
          <p:cNvSpPr txBox="1"/>
          <p:nvPr/>
        </p:nvSpPr>
        <p:spPr>
          <a:xfrm>
            <a:off x="365760" y="1572768"/>
            <a:ext cx="2468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50" b="0" i="0">
                <a:solidFill>
                  <a:srgbClr val="334155"/>
                </a:solidFill>
                <a:latin typeface="Calibri"/>
              </a:rPr>
              <a:t>Total Commits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91FA6F-D4A4-2712-F23C-01C746B0EEC6}"/>
              </a:ext>
            </a:extLst>
          </p:cNvPr>
          <p:cNvSpPr/>
          <p:nvPr/>
        </p:nvSpPr>
        <p:spPr>
          <a:xfrm>
            <a:off x="3108960" y="100584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6B28816-85DF-4D42-23B6-EBFB46E4927C}"/>
              </a:ext>
            </a:extLst>
          </p:cNvPr>
          <p:cNvSpPr/>
          <p:nvPr/>
        </p:nvSpPr>
        <p:spPr>
          <a:xfrm>
            <a:off x="3108960" y="1005840"/>
            <a:ext cx="2468880" cy="45720"/>
          </a:xfrm>
          <a:prstGeom prst="rect">
            <a:avLst/>
          </a:prstGeom>
          <a:solidFill>
            <a:srgbClr val="4F46E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18D3A6-FC22-111D-674E-EA0D6CA0BDE2}"/>
              </a:ext>
            </a:extLst>
          </p:cNvPr>
          <p:cNvSpPr txBox="1"/>
          <p:nvPr/>
        </p:nvSpPr>
        <p:spPr>
          <a:xfrm>
            <a:off x="3108960" y="1115568"/>
            <a:ext cx="24688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 i="0">
                <a:solidFill>
                  <a:srgbClr val="4F46E5"/>
                </a:solidFill>
                <a:latin typeface="Calibri"/>
              </a:rPr>
              <a:t>14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EC737E-CC90-45D6-2D8C-0D4EAF42C432}"/>
              </a:ext>
            </a:extLst>
          </p:cNvPr>
          <p:cNvSpPr txBox="1"/>
          <p:nvPr/>
        </p:nvSpPr>
        <p:spPr>
          <a:xfrm>
            <a:off x="3108960" y="1572768"/>
            <a:ext cx="2468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50" b="0" i="0">
                <a:solidFill>
                  <a:srgbClr val="334155"/>
                </a:solidFill>
                <a:latin typeface="Calibri"/>
              </a:rPr>
              <a:t>Pull Requests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8B859C-8EB2-2536-4284-073DD6892C0A}"/>
              </a:ext>
            </a:extLst>
          </p:cNvPr>
          <p:cNvSpPr/>
          <p:nvPr/>
        </p:nvSpPr>
        <p:spPr>
          <a:xfrm>
            <a:off x="5852160" y="100584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EA19159-79BF-7A2E-6F00-61C563188EA8}"/>
              </a:ext>
            </a:extLst>
          </p:cNvPr>
          <p:cNvSpPr/>
          <p:nvPr/>
        </p:nvSpPr>
        <p:spPr>
          <a:xfrm>
            <a:off x="5852160" y="1005840"/>
            <a:ext cx="2468880" cy="45720"/>
          </a:xfrm>
          <a:prstGeom prst="rect">
            <a:avLst/>
          </a:prstGeom>
          <a:solidFill>
            <a:srgbClr val="05966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DAAA72-8264-3AB3-9E91-A3FF14EE7C5B}"/>
              </a:ext>
            </a:extLst>
          </p:cNvPr>
          <p:cNvSpPr txBox="1"/>
          <p:nvPr/>
        </p:nvSpPr>
        <p:spPr>
          <a:xfrm>
            <a:off x="5852160" y="1115568"/>
            <a:ext cx="24688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 i="0">
                <a:solidFill>
                  <a:srgbClr val="059669"/>
                </a:solidFill>
                <a:latin typeface="Calibri"/>
              </a:rPr>
              <a:t>68%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0DE1DB-7D0F-B5CE-8004-920D6C885805}"/>
              </a:ext>
            </a:extLst>
          </p:cNvPr>
          <p:cNvSpPr txBox="1"/>
          <p:nvPr/>
        </p:nvSpPr>
        <p:spPr>
          <a:xfrm>
            <a:off x="5852160" y="1572768"/>
            <a:ext cx="2468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50" b="0" i="0">
                <a:solidFill>
                  <a:srgbClr val="334155"/>
                </a:solidFill>
                <a:latin typeface="Calibri"/>
              </a:rPr>
              <a:t>Commits with Jira ID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8C3ED7C-DEA4-E363-C9FB-EAC586B80A59}"/>
              </a:ext>
            </a:extLst>
          </p:cNvPr>
          <p:cNvSpPr/>
          <p:nvPr/>
        </p:nvSpPr>
        <p:spPr>
          <a:xfrm>
            <a:off x="8595360" y="100584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E4939B7-F1D7-2FAD-49DC-5A2568A54B3F}"/>
              </a:ext>
            </a:extLst>
          </p:cNvPr>
          <p:cNvSpPr/>
          <p:nvPr/>
        </p:nvSpPr>
        <p:spPr>
          <a:xfrm>
            <a:off x="8595360" y="1005840"/>
            <a:ext cx="2468880" cy="45720"/>
          </a:xfrm>
          <a:prstGeom prst="rect">
            <a:avLst/>
          </a:prstGeom>
          <a:solidFill>
            <a:srgbClr val="D9770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1C2AD7-3F9D-1B2A-7590-FD51B9CB9D7A}"/>
              </a:ext>
            </a:extLst>
          </p:cNvPr>
          <p:cNvSpPr txBox="1"/>
          <p:nvPr/>
        </p:nvSpPr>
        <p:spPr>
          <a:xfrm>
            <a:off x="8595360" y="1115568"/>
            <a:ext cx="24688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 i="0">
                <a:solidFill>
                  <a:srgbClr val="D97706"/>
                </a:solidFill>
                <a:latin typeface="Calibri"/>
              </a:rPr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9AA7230-90F1-6FDD-4F76-DBD33A2355CF}"/>
              </a:ext>
            </a:extLst>
          </p:cNvPr>
          <p:cNvSpPr txBox="1"/>
          <p:nvPr/>
        </p:nvSpPr>
        <p:spPr>
          <a:xfrm>
            <a:off x="8595360" y="1572768"/>
            <a:ext cx="2468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50" b="0" i="0">
                <a:solidFill>
                  <a:srgbClr val="334155"/>
                </a:solidFill>
                <a:latin typeface="Calibri"/>
              </a:rPr>
              <a:t>Active Contributors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78379DE-0E40-94AA-7FBE-272BE225EDD5}"/>
              </a:ext>
            </a:extLst>
          </p:cNvPr>
          <p:cNvSpPr txBox="1"/>
          <p:nvPr/>
        </p:nvSpPr>
        <p:spPr>
          <a:xfrm>
            <a:off x="365760" y="2194560"/>
            <a:ext cx="822960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Key Chronological Commits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C58A309-A217-594C-8573-865A4F201E0B}"/>
              </a:ext>
            </a:extLst>
          </p:cNvPr>
          <p:cNvSpPr/>
          <p:nvPr/>
        </p:nvSpPr>
        <p:spPr>
          <a:xfrm>
            <a:off x="365760" y="2560320"/>
            <a:ext cx="1280160" cy="292608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999D16C-2FA8-B0FD-7D0F-F8A2423A098F}"/>
              </a:ext>
            </a:extLst>
          </p:cNvPr>
          <p:cNvSpPr txBox="1"/>
          <p:nvPr/>
        </p:nvSpPr>
        <p:spPr>
          <a:xfrm>
            <a:off x="411480" y="2578608"/>
            <a:ext cx="1188719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Calibri"/>
              </a:rPr>
              <a:t>Date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62B65B8-DEBE-A7C2-BC77-17DA3E9240BC}"/>
              </a:ext>
            </a:extLst>
          </p:cNvPr>
          <p:cNvSpPr/>
          <p:nvPr/>
        </p:nvSpPr>
        <p:spPr>
          <a:xfrm>
            <a:off x="1737360" y="2560320"/>
            <a:ext cx="1828800" cy="292608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E6EBD57-3228-EC9C-281F-A727563082CE}"/>
              </a:ext>
            </a:extLst>
          </p:cNvPr>
          <p:cNvSpPr txBox="1"/>
          <p:nvPr/>
        </p:nvSpPr>
        <p:spPr>
          <a:xfrm>
            <a:off x="1783080" y="2578608"/>
            <a:ext cx="173736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Calibri"/>
              </a:rPr>
              <a:t>Author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9DAFE19-EA5C-71F5-9926-0CC9F3E79492}"/>
              </a:ext>
            </a:extLst>
          </p:cNvPr>
          <p:cNvSpPr/>
          <p:nvPr/>
        </p:nvSpPr>
        <p:spPr>
          <a:xfrm>
            <a:off x="3657600" y="2560320"/>
            <a:ext cx="8348472" cy="292608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4ADA608-A5D0-CD17-FE52-7BD782BB8383}"/>
              </a:ext>
            </a:extLst>
          </p:cNvPr>
          <p:cNvSpPr txBox="1"/>
          <p:nvPr/>
        </p:nvSpPr>
        <p:spPr>
          <a:xfrm>
            <a:off x="3703320" y="2578608"/>
            <a:ext cx="8257032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Calibri"/>
              </a:rPr>
              <a:t>Commit Message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36B585E-9351-4398-009F-CADF855F7E8F}"/>
              </a:ext>
            </a:extLst>
          </p:cNvPr>
          <p:cNvSpPr/>
          <p:nvPr/>
        </p:nvSpPr>
        <p:spPr>
          <a:xfrm>
            <a:off x="365760" y="2852928"/>
            <a:ext cx="128016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FA21B99-8089-3A9E-D26F-9C2D7236516C}"/>
              </a:ext>
            </a:extLst>
          </p:cNvPr>
          <p:cNvSpPr txBox="1"/>
          <p:nvPr/>
        </p:nvSpPr>
        <p:spPr>
          <a:xfrm>
            <a:off x="411480" y="2880360"/>
            <a:ext cx="1188719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2026-05-22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1718B98-25D8-D241-4FD8-855F4A849153}"/>
              </a:ext>
            </a:extLst>
          </p:cNvPr>
          <p:cNvSpPr/>
          <p:nvPr/>
        </p:nvSpPr>
        <p:spPr>
          <a:xfrm>
            <a:off x="1737360" y="2852928"/>
            <a:ext cx="182880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F8751CB-715C-6BF9-0974-9FFB4D0D8320}"/>
              </a:ext>
            </a:extLst>
          </p:cNvPr>
          <p:cNvSpPr txBox="1"/>
          <p:nvPr/>
        </p:nvSpPr>
        <p:spPr>
          <a:xfrm>
            <a:off x="1783080" y="2880360"/>
            <a:ext cx="173736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Rafsan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5B8E9FF-C840-0A33-2145-AA3CC6DED880}"/>
              </a:ext>
            </a:extLst>
          </p:cNvPr>
          <p:cNvSpPr/>
          <p:nvPr/>
        </p:nvSpPr>
        <p:spPr>
          <a:xfrm>
            <a:off x="3657600" y="2852928"/>
            <a:ext cx="834847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F6EE8D1-9EA7-5BAA-B437-F9DC0E9B5A4B}"/>
              </a:ext>
            </a:extLst>
          </p:cNvPr>
          <p:cNvSpPr txBox="1"/>
          <p:nvPr/>
        </p:nvSpPr>
        <p:spPr>
          <a:xfrm>
            <a:off x="3703320" y="2880360"/>
            <a:ext cx="8257032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onsolas"/>
              </a:rPr>
              <a:t>feat: add initial project structure with React, routing, Firebase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7A7B8BB-BD9B-27D0-3C12-48EA88DA6E82}"/>
              </a:ext>
            </a:extLst>
          </p:cNvPr>
          <p:cNvSpPr/>
          <p:nvPr/>
        </p:nvSpPr>
        <p:spPr>
          <a:xfrm>
            <a:off x="365760" y="3154680"/>
            <a:ext cx="12801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785A359-52C7-ACFF-9934-413C49DC0234}"/>
              </a:ext>
            </a:extLst>
          </p:cNvPr>
          <p:cNvSpPr txBox="1"/>
          <p:nvPr/>
        </p:nvSpPr>
        <p:spPr>
          <a:xfrm>
            <a:off x="411480" y="3182112"/>
            <a:ext cx="1188719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2026-05-31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AC016D7-F3DD-EE7F-77A5-8C765A9BAFD2}"/>
              </a:ext>
            </a:extLst>
          </p:cNvPr>
          <p:cNvSpPr/>
          <p:nvPr/>
        </p:nvSpPr>
        <p:spPr>
          <a:xfrm>
            <a:off x="1737360" y="3154680"/>
            <a:ext cx="182880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D5597FF-0DB0-CF7E-5CB1-4CD8302A170F}"/>
              </a:ext>
            </a:extLst>
          </p:cNvPr>
          <p:cNvSpPr txBox="1"/>
          <p:nvPr/>
        </p:nvSpPr>
        <p:spPr>
          <a:xfrm>
            <a:off x="1783080" y="3182112"/>
            <a:ext cx="173736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Adib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C8F1528-CF18-714E-4B1F-C9A5CA219554}"/>
              </a:ext>
            </a:extLst>
          </p:cNvPr>
          <p:cNvSpPr/>
          <p:nvPr/>
        </p:nvSpPr>
        <p:spPr>
          <a:xfrm>
            <a:off x="3657600" y="3154680"/>
            <a:ext cx="8348472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A181906-0F66-B925-B675-B0151E5A68CC}"/>
              </a:ext>
            </a:extLst>
          </p:cNvPr>
          <p:cNvSpPr txBox="1"/>
          <p:nvPr/>
        </p:nvSpPr>
        <p:spPr>
          <a:xfrm>
            <a:off x="3703320" y="3182112"/>
            <a:ext cx="8257032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059669"/>
                </a:solidFill>
                <a:latin typeface="Consolas"/>
              </a:rPr>
              <a:t>SCRUM-20 feat: add lobby screen UI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EBDAC89-320C-9C90-63C5-90B0C87C516C}"/>
              </a:ext>
            </a:extLst>
          </p:cNvPr>
          <p:cNvSpPr/>
          <p:nvPr/>
        </p:nvSpPr>
        <p:spPr>
          <a:xfrm>
            <a:off x="365760" y="3456432"/>
            <a:ext cx="128016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04367B6-869F-07CA-8A1B-97E615B4DE3F}"/>
              </a:ext>
            </a:extLst>
          </p:cNvPr>
          <p:cNvSpPr txBox="1"/>
          <p:nvPr/>
        </p:nvSpPr>
        <p:spPr>
          <a:xfrm>
            <a:off x="411480" y="3483864"/>
            <a:ext cx="1188719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2026-05-31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5CF75A8-3060-41C8-50C7-E0A88C56DDC6}"/>
              </a:ext>
            </a:extLst>
          </p:cNvPr>
          <p:cNvSpPr/>
          <p:nvPr/>
        </p:nvSpPr>
        <p:spPr>
          <a:xfrm>
            <a:off x="1737360" y="3456432"/>
            <a:ext cx="182880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F46B293-75D9-2A2B-539F-804B658630C4}"/>
              </a:ext>
            </a:extLst>
          </p:cNvPr>
          <p:cNvSpPr txBox="1"/>
          <p:nvPr/>
        </p:nvSpPr>
        <p:spPr>
          <a:xfrm>
            <a:off x="1783080" y="3483864"/>
            <a:ext cx="173736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Adib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847AD20-7826-D455-9D8E-EB2983439687}"/>
              </a:ext>
            </a:extLst>
          </p:cNvPr>
          <p:cNvSpPr/>
          <p:nvPr/>
        </p:nvSpPr>
        <p:spPr>
          <a:xfrm>
            <a:off x="3657600" y="3456432"/>
            <a:ext cx="834847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F04134E-F717-98AE-FCD7-E77B1F0A0D2C}"/>
              </a:ext>
            </a:extLst>
          </p:cNvPr>
          <p:cNvSpPr txBox="1"/>
          <p:nvPr/>
        </p:nvSpPr>
        <p:spPr>
          <a:xfrm>
            <a:off x="3703320" y="3483864"/>
            <a:ext cx="8257032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059669"/>
                </a:solidFill>
                <a:latin typeface="Consolas"/>
              </a:rPr>
              <a:t>SCRUM-21 feat: add game screen UI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9C45C0F-2C56-4EBB-61F7-079F723B84F3}"/>
              </a:ext>
            </a:extLst>
          </p:cNvPr>
          <p:cNvSpPr/>
          <p:nvPr/>
        </p:nvSpPr>
        <p:spPr>
          <a:xfrm>
            <a:off x="365760" y="3758184"/>
            <a:ext cx="12801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0B036AD-85EE-C855-E23A-9A0CDF24BE5E}"/>
              </a:ext>
            </a:extLst>
          </p:cNvPr>
          <p:cNvSpPr txBox="1"/>
          <p:nvPr/>
        </p:nvSpPr>
        <p:spPr>
          <a:xfrm>
            <a:off x="411480" y="3785616"/>
            <a:ext cx="1188719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2026-05-31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EB6A40A-4B8A-B94F-8917-9039B7D833B0}"/>
              </a:ext>
            </a:extLst>
          </p:cNvPr>
          <p:cNvSpPr/>
          <p:nvPr/>
        </p:nvSpPr>
        <p:spPr>
          <a:xfrm>
            <a:off x="1737360" y="3758184"/>
            <a:ext cx="182880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6D5CB80-0560-68EF-3608-CF172704E018}"/>
              </a:ext>
            </a:extLst>
          </p:cNvPr>
          <p:cNvSpPr txBox="1"/>
          <p:nvPr/>
        </p:nvSpPr>
        <p:spPr>
          <a:xfrm>
            <a:off x="1783080" y="3785616"/>
            <a:ext cx="173736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Adib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7656123-2B04-19AA-4B7F-8EDBED322DA8}"/>
              </a:ext>
            </a:extLst>
          </p:cNvPr>
          <p:cNvSpPr/>
          <p:nvPr/>
        </p:nvSpPr>
        <p:spPr>
          <a:xfrm>
            <a:off x="3657600" y="3758184"/>
            <a:ext cx="8348472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B6E97EF-0BB1-232A-C9AF-F26885BD4A3F}"/>
              </a:ext>
            </a:extLst>
          </p:cNvPr>
          <p:cNvSpPr txBox="1"/>
          <p:nvPr/>
        </p:nvSpPr>
        <p:spPr>
          <a:xfrm>
            <a:off x="3703320" y="3785616"/>
            <a:ext cx="8257032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059669"/>
                </a:solidFill>
                <a:latin typeface="Consolas"/>
              </a:rPr>
              <a:t>SCRUM-25 feat: overhaul leaderboard screen UI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FB8DC22C-691C-6504-3AA3-93034CDD4103}"/>
              </a:ext>
            </a:extLst>
          </p:cNvPr>
          <p:cNvSpPr/>
          <p:nvPr/>
        </p:nvSpPr>
        <p:spPr>
          <a:xfrm>
            <a:off x="365760" y="4059936"/>
            <a:ext cx="128016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6E9C16D-D3E9-B768-4F2B-E93ED448EADF}"/>
              </a:ext>
            </a:extLst>
          </p:cNvPr>
          <p:cNvSpPr txBox="1"/>
          <p:nvPr/>
        </p:nvSpPr>
        <p:spPr>
          <a:xfrm>
            <a:off x="411480" y="4087368"/>
            <a:ext cx="1188719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2026-06-07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F4513CC6-A37C-09C4-C5DD-755021363459}"/>
              </a:ext>
            </a:extLst>
          </p:cNvPr>
          <p:cNvSpPr/>
          <p:nvPr/>
        </p:nvSpPr>
        <p:spPr>
          <a:xfrm>
            <a:off x="1737360" y="4059936"/>
            <a:ext cx="182880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F2E27DC-938B-4BDB-9790-5FFD1E3B4429}"/>
              </a:ext>
            </a:extLst>
          </p:cNvPr>
          <p:cNvSpPr txBox="1"/>
          <p:nvPr/>
        </p:nvSpPr>
        <p:spPr>
          <a:xfrm>
            <a:off x="1783080" y="4087368"/>
            <a:ext cx="173736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Utsa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346ADB36-1A36-482E-9C01-1B6E5590A9C5}"/>
              </a:ext>
            </a:extLst>
          </p:cNvPr>
          <p:cNvSpPr/>
          <p:nvPr/>
        </p:nvSpPr>
        <p:spPr>
          <a:xfrm>
            <a:off x="3657600" y="4059936"/>
            <a:ext cx="834847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493A20E-4FB7-0D00-0297-74E110CE5463}"/>
              </a:ext>
            </a:extLst>
          </p:cNvPr>
          <p:cNvSpPr txBox="1"/>
          <p:nvPr/>
        </p:nvSpPr>
        <p:spPr>
          <a:xfrm>
            <a:off x="3703320" y="4087368"/>
            <a:ext cx="8257032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onsolas"/>
              </a:rPr>
              <a:t>Implemented Login and Registration features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EC88E841-3759-680C-6D2C-00F192079501}"/>
              </a:ext>
            </a:extLst>
          </p:cNvPr>
          <p:cNvSpPr/>
          <p:nvPr/>
        </p:nvSpPr>
        <p:spPr>
          <a:xfrm>
            <a:off x="365760" y="4361688"/>
            <a:ext cx="12801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971940B-7F98-7F32-51D4-329C9F067F6A}"/>
              </a:ext>
            </a:extLst>
          </p:cNvPr>
          <p:cNvSpPr txBox="1"/>
          <p:nvPr/>
        </p:nvSpPr>
        <p:spPr>
          <a:xfrm>
            <a:off x="411480" y="4389120"/>
            <a:ext cx="1188719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2026-06-07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44EE6033-9F32-6B67-A017-4613D119571C}"/>
              </a:ext>
            </a:extLst>
          </p:cNvPr>
          <p:cNvSpPr/>
          <p:nvPr/>
        </p:nvSpPr>
        <p:spPr>
          <a:xfrm>
            <a:off x="1737360" y="4361688"/>
            <a:ext cx="182880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8EC5C633-8B3B-19DA-649A-8DCD32938A3D}"/>
              </a:ext>
            </a:extLst>
          </p:cNvPr>
          <p:cNvSpPr txBox="1"/>
          <p:nvPr/>
        </p:nvSpPr>
        <p:spPr>
          <a:xfrm>
            <a:off x="1783080" y="4389120"/>
            <a:ext cx="173736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Utsa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AF88FF26-BF48-913E-FDFA-1EF0A9A7F623}"/>
              </a:ext>
            </a:extLst>
          </p:cNvPr>
          <p:cNvSpPr/>
          <p:nvPr/>
        </p:nvSpPr>
        <p:spPr>
          <a:xfrm>
            <a:off x="3657600" y="4361688"/>
            <a:ext cx="8348472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606B295-82CE-8BC6-F43F-056EB39A54FA}"/>
              </a:ext>
            </a:extLst>
          </p:cNvPr>
          <p:cNvSpPr txBox="1"/>
          <p:nvPr/>
        </p:nvSpPr>
        <p:spPr>
          <a:xfrm>
            <a:off x="3703320" y="4389120"/>
            <a:ext cx="8257032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onsolas"/>
              </a:rPr>
              <a:t>Implemented Room creation and room joining logic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98530E32-BD59-8E0F-66A4-E73623124BCA}"/>
              </a:ext>
            </a:extLst>
          </p:cNvPr>
          <p:cNvSpPr/>
          <p:nvPr/>
        </p:nvSpPr>
        <p:spPr>
          <a:xfrm>
            <a:off x="365760" y="4663440"/>
            <a:ext cx="128016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7037A42B-0F23-6617-4C87-0E4B07330072}"/>
              </a:ext>
            </a:extLst>
          </p:cNvPr>
          <p:cNvSpPr txBox="1"/>
          <p:nvPr/>
        </p:nvSpPr>
        <p:spPr>
          <a:xfrm>
            <a:off x="411480" y="4690872"/>
            <a:ext cx="1188719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2026-06-08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E5C699B1-6BFE-E379-2925-7CDCEC1DC2C8}"/>
              </a:ext>
            </a:extLst>
          </p:cNvPr>
          <p:cNvSpPr/>
          <p:nvPr/>
        </p:nvSpPr>
        <p:spPr>
          <a:xfrm>
            <a:off x="1737360" y="4663440"/>
            <a:ext cx="182880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1C167CB-9926-3438-A5FE-71847464FD63}"/>
              </a:ext>
            </a:extLst>
          </p:cNvPr>
          <p:cNvSpPr txBox="1"/>
          <p:nvPr/>
        </p:nvSpPr>
        <p:spPr>
          <a:xfrm>
            <a:off x="1783080" y="4690872"/>
            <a:ext cx="173736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Utsa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BB3FC1FA-4221-683E-93E3-17DB9D034113}"/>
              </a:ext>
            </a:extLst>
          </p:cNvPr>
          <p:cNvSpPr/>
          <p:nvPr/>
        </p:nvSpPr>
        <p:spPr>
          <a:xfrm>
            <a:off x="3657600" y="4663440"/>
            <a:ext cx="834847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EC45EC5-56B5-5CA0-AEDF-1AAC9965D28C}"/>
              </a:ext>
            </a:extLst>
          </p:cNvPr>
          <p:cNvSpPr txBox="1"/>
          <p:nvPr/>
        </p:nvSpPr>
        <p:spPr>
          <a:xfrm>
            <a:off x="3703320" y="4690872"/>
            <a:ext cx="8257032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onsolas"/>
              </a:rPr>
              <a:t>Implemented Live status, WPM calculation and ready states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B9FE74B3-D8B3-149D-E29F-1065F90FF932}"/>
              </a:ext>
            </a:extLst>
          </p:cNvPr>
          <p:cNvSpPr/>
          <p:nvPr/>
        </p:nvSpPr>
        <p:spPr>
          <a:xfrm>
            <a:off x="365760" y="4965192"/>
            <a:ext cx="12801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9BA68FD-B7E8-E4F9-67A7-9C4EADDD5EA9}"/>
              </a:ext>
            </a:extLst>
          </p:cNvPr>
          <p:cNvSpPr txBox="1"/>
          <p:nvPr/>
        </p:nvSpPr>
        <p:spPr>
          <a:xfrm>
            <a:off x="411480" y="4992624"/>
            <a:ext cx="1188719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2026-06-08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4EEDA847-3E8F-25A8-3827-C4166C4CD4A5}"/>
              </a:ext>
            </a:extLst>
          </p:cNvPr>
          <p:cNvSpPr/>
          <p:nvPr/>
        </p:nvSpPr>
        <p:spPr>
          <a:xfrm>
            <a:off x="1737360" y="4965192"/>
            <a:ext cx="182880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263C290E-B5C0-D9B4-3789-E822491461E5}"/>
              </a:ext>
            </a:extLst>
          </p:cNvPr>
          <p:cNvSpPr txBox="1"/>
          <p:nvPr/>
        </p:nvSpPr>
        <p:spPr>
          <a:xfrm>
            <a:off x="1783080" y="4992624"/>
            <a:ext cx="173736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Utsa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6C68C9EC-336C-0E4D-6701-12B1D49E3271}"/>
              </a:ext>
            </a:extLst>
          </p:cNvPr>
          <p:cNvSpPr/>
          <p:nvPr/>
        </p:nvSpPr>
        <p:spPr>
          <a:xfrm>
            <a:off x="3657600" y="4965192"/>
            <a:ext cx="8348472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685A115F-E864-73EB-434B-3A88B4F7F4EE}"/>
              </a:ext>
            </a:extLst>
          </p:cNvPr>
          <p:cNvSpPr txBox="1"/>
          <p:nvPr/>
        </p:nvSpPr>
        <p:spPr>
          <a:xfrm>
            <a:off x="3703320" y="4992624"/>
            <a:ext cx="8257032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059669"/>
                </a:solidFill>
                <a:latin typeface="Consolas"/>
              </a:rPr>
              <a:t>SCRUM-31 Final Testing &amp; Deployment — bug fix on match exit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EC38C2AD-EB95-A8E1-F94E-1D792EB8DC7D}"/>
              </a:ext>
            </a:extLst>
          </p:cNvPr>
          <p:cNvSpPr/>
          <p:nvPr/>
        </p:nvSpPr>
        <p:spPr>
          <a:xfrm>
            <a:off x="365760" y="5266944"/>
            <a:ext cx="128016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C50A14B3-881F-A3D3-9BCF-C4202693EC59}"/>
              </a:ext>
            </a:extLst>
          </p:cNvPr>
          <p:cNvSpPr txBox="1"/>
          <p:nvPr/>
        </p:nvSpPr>
        <p:spPr>
          <a:xfrm>
            <a:off x="411480" y="5294376"/>
            <a:ext cx="1188719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2026-06-10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41C7D0FF-1C06-C388-6AC0-C126F2FE7119}"/>
              </a:ext>
            </a:extLst>
          </p:cNvPr>
          <p:cNvSpPr/>
          <p:nvPr/>
        </p:nvSpPr>
        <p:spPr>
          <a:xfrm>
            <a:off x="1737360" y="5266944"/>
            <a:ext cx="182880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D46E13D1-5C49-5FD4-92FF-C6A21054F535}"/>
              </a:ext>
            </a:extLst>
          </p:cNvPr>
          <p:cNvSpPr txBox="1"/>
          <p:nvPr/>
        </p:nvSpPr>
        <p:spPr>
          <a:xfrm>
            <a:off x="1783080" y="5294376"/>
            <a:ext cx="173736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Utsa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D6A3C206-8F1E-55AE-C88C-6E2FD3F3897A}"/>
              </a:ext>
            </a:extLst>
          </p:cNvPr>
          <p:cNvSpPr/>
          <p:nvPr/>
        </p:nvSpPr>
        <p:spPr>
          <a:xfrm>
            <a:off x="3657600" y="5266944"/>
            <a:ext cx="834847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122C56D9-5266-FE5F-FA54-8FD7579D28E9}"/>
              </a:ext>
            </a:extLst>
          </p:cNvPr>
          <p:cNvSpPr txBox="1"/>
          <p:nvPr/>
        </p:nvSpPr>
        <p:spPr>
          <a:xfrm>
            <a:off x="3703320" y="5294376"/>
            <a:ext cx="8257032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onsolas"/>
              </a:rPr>
              <a:t>Fixed a bug (post-sprint hotfix)</a:t>
            </a:r>
          </a:p>
        </p:txBody>
      </p:sp>
    </p:spTree>
    <p:extLst>
      <p:ext uri="{BB962C8B-B14F-4D97-AF65-F5344CB8AC3E}">
        <p14:creationId xmlns:p14="http://schemas.microsoft.com/office/powerpoint/2010/main" val="6640872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46304"/>
            <a:ext cx="10972800" cy="4924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lang="en-US" sz="2600" b="1" dirty="0">
                <a:solidFill>
                  <a:srgbClr val="0F172A"/>
                </a:solidFill>
                <a:latin typeface="Calibri"/>
              </a:rPr>
              <a:t>Contribution &amp; Pull Requests</a:t>
            </a:r>
            <a:endParaRPr sz="2600" b="1" i="0" dirty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81C608A9-54B6-525A-0F52-6563A05FE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38" y="1145184"/>
            <a:ext cx="5293450" cy="5216654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D277ED3F-FACC-F764-91E0-3A830C677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209" y="1171413"/>
            <a:ext cx="2950308" cy="5216654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67F05786-0C22-6A55-675B-3DB9DE5569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686601"/>
            <a:ext cx="2822318" cy="21338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46304"/>
            <a:ext cx="10972800" cy="4924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 i="0" dirty="0">
                <a:solidFill>
                  <a:srgbClr val="0F172A"/>
                </a:solidFill>
                <a:latin typeface="Calibri"/>
              </a:rPr>
              <a:t>Jira–GitHub</a:t>
            </a:r>
            <a:r>
              <a:rPr lang="en-US" sz="2600" b="1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2600" b="1" i="0" dirty="0">
                <a:solidFill>
                  <a:srgbClr val="0F172A"/>
                </a:solidFill>
                <a:latin typeface="Calibri"/>
              </a:rPr>
              <a:t>Integration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2860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2286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 i="0">
                <a:solidFill>
                  <a:srgbClr val="0284C7"/>
                </a:solidFill>
                <a:latin typeface="Calibri"/>
              </a:rPr>
              <a:t>1. Jira Ticket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2286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 i="0">
                <a:solidFill>
                  <a:srgbClr val="334155"/>
                </a:solidFill>
                <a:latin typeface="Calibri"/>
              </a:rPr>
              <a:t>Backlog item allocated
e.g., SCRUM-22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1828800"/>
            <a:ext cx="365760" cy="73152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2860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1840" y="1417320"/>
            <a:ext cx="2286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 i="0">
                <a:solidFill>
                  <a:srgbClr val="4F46E5"/>
                </a:solidFill>
                <a:latin typeface="Calibri"/>
              </a:rPr>
              <a:t>2. Git Branch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783080"/>
            <a:ext cx="2286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 i="0">
                <a:solidFill>
                  <a:srgbClr val="334155"/>
                </a:solidFill>
                <a:latin typeface="Calibri"/>
              </a:rPr>
              <a:t>Branch named with ID
SCRUM-22-opponent-sync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1828800"/>
            <a:ext cx="365760" cy="73152"/>
          </a:xfrm>
          <a:prstGeom prst="rect">
            <a:avLst/>
          </a:prstGeom>
          <a:solidFill>
            <a:srgbClr val="4F46E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2860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1417320"/>
            <a:ext cx="2286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 i="0">
                <a:solidFill>
                  <a:srgbClr val="059669"/>
                </a:solidFill>
                <a:latin typeface="Calibri"/>
              </a:rPr>
              <a:t>3. GitHub PR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783080"/>
            <a:ext cx="2286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 i="0">
                <a:solidFill>
                  <a:srgbClr val="334155"/>
                </a:solidFill>
                <a:latin typeface="Calibri"/>
              </a:rPr>
              <a:t>Commits pushed
PR raised &amp; reviewed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828800"/>
            <a:ext cx="365760" cy="73152"/>
          </a:xfrm>
          <a:prstGeom prst="rect">
            <a:avLst/>
          </a:prstGeom>
          <a:solidFill>
            <a:srgbClr val="05966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61120" y="1371600"/>
            <a:ext cx="27432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0" y="1417320"/>
            <a:ext cx="2743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 i="0">
                <a:solidFill>
                  <a:srgbClr val="059669"/>
                </a:solidFill>
                <a:latin typeface="Calibri"/>
              </a:rPr>
              <a:t>4. Jira Status Auto-Done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1783080"/>
            <a:ext cx="27432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 i="0">
                <a:solidFill>
                  <a:srgbClr val="334155"/>
                </a:solidFill>
                <a:latin typeface="Calibri"/>
              </a:rPr>
              <a:t>PR merges, linking updates
ticket column to Done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59E3262D-AFBB-8479-2DC9-866963E71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82834"/>
            <a:ext cx="4022084" cy="187026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7278361-09D7-E61E-19F6-FAC0DEAE7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238" y="2782834"/>
            <a:ext cx="4639322" cy="251495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7582EC9-51B3-9A68-D01C-499DA4B8C7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6595" y="5374971"/>
            <a:ext cx="3964607" cy="136689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AC1E9217-2C20-BE3D-E636-7FD710DC5D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1" y="4545512"/>
            <a:ext cx="5212080" cy="218402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46304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QA &amp; Test Cycle Management (Zephyr)</a:t>
            </a: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D1D49062-5D89-AE74-8054-B3A4111F1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4671" y="1118508"/>
            <a:ext cx="3467957" cy="3301273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6C5CA038-5789-03E8-20D3-31E67C21B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419781"/>
            <a:ext cx="5994758" cy="1862185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B24EEA63-42F5-A52A-D7F6-29286DE9AD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612" y="5267443"/>
            <a:ext cx="4255948" cy="7401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9F80D0-099A-A12D-9004-6AB9A75E39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210786"/>
            <a:ext cx="7600923" cy="265642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46304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Epic &amp; Task Hierarchy Breakdown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2194560" cy="868680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051560"/>
            <a:ext cx="210312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SCRUM-1
Project Setup
&amp; Auth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2194560" cy="16824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2336" y="1965960"/>
            <a:ext cx="2121408" cy="37490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" y="2011679"/>
            <a:ext cx="2048255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Firebase setup (Rafsan)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" y="2386584"/>
            <a:ext cx="2121408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" y="2432303"/>
            <a:ext cx="2048255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React bootstrap (Rafsan)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" y="2807208"/>
            <a:ext cx="2121408" cy="37490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" y="2852927"/>
            <a:ext cx="2048255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Firebase Auth logic (Utsa)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" y="3227832"/>
            <a:ext cx="2121408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" y="3273552"/>
            <a:ext cx="2048255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Firestore schemas (Utsa)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79191" y="1005840"/>
            <a:ext cx="2194560" cy="868680"/>
          </a:xfrm>
          <a:prstGeom prst="rect">
            <a:avLst/>
          </a:prstGeom>
          <a:solidFill>
            <a:srgbClr val="4F46E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24911" y="1051560"/>
            <a:ext cx="210312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SCRUM-2
Matchmaking
System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9191" y="1920240"/>
            <a:ext cx="219456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15768" y="1965960"/>
            <a:ext cx="2121408" cy="37490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52344" y="2011679"/>
            <a:ext cx="2048255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Queue state logic (Utsa)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5768" y="2386584"/>
            <a:ext cx="2121408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52344" y="2432303"/>
            <a:ext cx="2048255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Room Create +5 subs (Utsa)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15768" y="2807208"/>
            <a:ext cx="2121408" cy="37490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52344" y="2852927"/>
            <a:ext cx="2048255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Room Join +5 subs (Utsa)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92624" y="1005840"/>
            <a:ext cx="2194560" cy="868680"/>
          </a:xfrm>
          <a:prstGeom prst="rect">
            <a:avLst/>
          </a:prstGeom>
          <a:solidFill>
            <a:srgbClr val="05966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38344" y="1051560"/>
            <a:ext cx="210312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SCRUM-3
Game Engine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92624" y="1920240"/>
            <a:ext cx="2194560" cy="25237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029200" y="1965960"/>
            <a:ext cx="2121408" cy="37490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65776" y="2011679"/>
            <a:ext cx="2048255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Ready state +5 subs (Utsa)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0" y="2386584"/>
            <a:ext cx="2121408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65776" y="2432303"/>
            <a:ext cx="2048255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WPM Engine logic (Utsa)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0" y="2807208"/>
            <a:ext cx="2121408" cy="37490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65776" y="2852927"/>
            <a:ext cx="2048255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Opponent Sync +4 sub (Utsa)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0" y="3227832"/>
            <a:ext cx="2121408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65776" y="3273552"/>
            <a:ext cx="2048255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Rematch Logic +5 sub (Utsa)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3648456"/>
            <a:ext cx="2121408" cy="37490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65776" y="3694176"/>
            <a:ext cx="2048255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Lang Picker +5 sub (Utsa)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0" y="4069080"/>
            <a:ext cx="2121408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65776" y="4114800"/>
            <a:ext cx="2048255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Error cases +5 sub (Utsa)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06056" y="1005840"/>
            <a:ext cx="2194560" cy="868680"/>
          </a:xfrm>
          <a:prstGeom prst="rect">
            <a:avLst/>
          </a:prstGeom>
          <a:solidFill>
            <a:srgbClr val="D9770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51776" y="1051560"/>
            <a:ext cx="210312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SCRUM-4
UI &amp;
Frontend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06056" y="1920240"/>
            <a:ext cx="2194560" cy="3364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342631" y="1965960"/>
            <a:ext cx="2121408" cy="37490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79208" y="2011679"/>
            <a:ext cx="2048255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React routing (Rafsan)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42631" y="2386584"/>
            <a:ext cx="2121408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79208" y="2432303"/>
            <a:ext cx="2048255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Home layout +3 subs (Adib)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42631" y="2807208"/>
            <a:ext cx="2121408" cy="37490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379208" y="2852927"/>
            <a:ext cx="2048255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Theme styles +4 sub (Adib)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42631" y="3227832"/>
            <a:ext cx="2121408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79208" y="3273552"/>
            <a:ext cx="2048255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Lobby layout +3 sub (Adib)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42631" y="3648456"/>
            <a:ext cx="2121408" cy="37490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79208" y="3694176"/>
            <a:ext cx="2048255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Game layouts +5 sub (Adib)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42631" y="4069080"/>
            <a:ext cx="2121408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379208" y="4114800"/>
            <a:ext cx="2048255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Result view +4 sub (Adib)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42631" y="4489704"/>
            <a:ext cx="2121408" cy="37490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379208" y="4535424"/>
            <a:ext cx="2048255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Leaderboard UI +4 (Adib)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42631" y="4910328"/>
            <a:ext cx="2121408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379208" y="4956048"/>
            <a:ext cx="2048255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Mobile polish +4 sub (Adib)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19488" y="1005840"/>
            <a:ext cx="2194560" cy="86868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65208" y="1051560"/>
            <a:ext cx="2103120" cy="77724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square" lIns="45720" rIns="4572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SCRUM-5
Snippet Bank
&amp; Leader-
board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619488" y="1920240"/>
            <a:ext cx="21945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9656063" y="1965960"/>
            <a:ext cx="2121408" cy="37490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2640" y="2011679"/>
            <a:ext cx="2048255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C &amp; Py Snippets +4 (Adib)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56063" y="2386584"/>
            <a:ext cx="2121408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692640" y="2432303"/>
            <a:ext cx="2048255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Leaderboard logic +5 (Utsa)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656063" y="2807208"/>
            <a:ext cx="2121408" cy="37490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692640" y="2852927"/>
            <a:ext cx="2048255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JS &amp; PHP Snippets +4 (Adib)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656063" y="3227832"/>
            <a:ext cx="2121408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692640" y="3273552"/>
            <a:ext cx="2048255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C++ &amp; Java Snips +4 (Adib)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656063" y="3648456"/>
            <a:ext cx="2121408" cy="37490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692640" y="3694176"/>
            <a:ext cx="2048255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QA Deployment +4 (Rafsan)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46304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 i="0" dirty="0">
                <a:solidFill>
                  <a:srgbClr val="0F172A"/>
                </a:solidFill>
                <a:latin typeface="Calibri"/>
              </a:rPr>
              <a:t>Project Outcomes &amp; Performance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2743200" cy="45720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115568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 i="0">
                <a:solidFill>
                  <a:srgbClr val="0284C7"/>
                </a:solidFill>
                <a:latin typeface="Calibri"/>
              </a:rPr>
              <a:t>113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72768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50" b="0" i="0">
                <a:solidFill>
                  <a:srgbClr val="334155"/>
                </a:solidFill>
                <a:latin typeface="Calibri"/>
              </a:rPr>
              <a:t>Total Jira Issues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6976" y="100584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36976" y="1005840"/>
            <a:ext cx="2743200" cy="45720"/>
          </a:xfrm>
          <a:prstGeom prst="rect">
            <a:avLst/>
          </a:prstGeom>
          <a:solidFill>
            <a:srgbClr val="05966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36976" y="1115568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 i="0">
                <a:solidFill>
                  <a:srgbClr val="059669"/>
                </a:solidFill>
                <a:latin typeface="Calibri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1572768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50" b="0" i="0">
                <a:solidFill>
                  <a:srgbClr val="334155"/>
                </a:solidFill>
                <a:latin typeface="Calibri"/>
              </a:rPr>
              <a:t>Resolution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08192" y="100584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08192" y="1005840"/>
            <a:ext cx="2743200" cy="45720"/>
          </a:xfrm>
          <a:prstGeom prst="rect">
            <a:avLst/>
          </a:prstGeom>
          <a:solidFill>
            <a:srgbClr val="4F46E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08192" y="1115568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 i="0">
                <a:solidFill>
                  <a:srgbClr val="4F46E5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8192" y="1572768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50" b="0" i="0">
                <a:solidFill>
                  <a:srgbClr val="334155"/>
                </a:solidFill>
                <a:latin typeface="Calibri"/>
              </a:rPr>
              <a:t>Sprints Delivered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79408" y="100584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79408" y="1005840"/>
            <a:ext cx="2743200" cy="45720"/>
          </a:xfrm>
          <a:prstGeom prst="rect">
            <a:avLst/>
          </a:prstGeom>
          <a:solidFill>
            <a:srgbClr val="D9770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79408" y="1115568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 i="0">
                <a:solidFill>
                  <a:srgbClr val="D97706"/>
                </a:solidFill>
                <a:latin typeface="Calibri"/>
              </a:rPr>
              <a:t>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1572768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50" b="0" i="0">
                <a:solidFill>
                  <a:srgbClr val="334155"/>
                </a:solidFill>
                <a:latin typeface="Calibri"/>
              </a:rPr>
              <a:t>Production Commits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37744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2377440"/>
            <a:ext cx="2743200" cy="45720"/>
          </a:xfrm>
          <a:prstGeom prst="rect">
            <a:avLst/>
          </a:prstGeom>
          <a:solidFill>
            <a:srgbClr val="0284C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2487168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 i="0">
                <a:solidFill>
                  <a:srgbClr val="0284C7"/>
                </a:solidFill>
                <a:latin typeface="Calibri"/>
              </a:rPr>
              <a:t>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2944368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50" b="0" i="0">
                <a:solidFill>
                  <a:srgbClr val="334155"/>
                </a:solidFill>
                <a:latin typeface="Calibri"/>
              </a:rPr>
              <a:t>Pull Requests Merged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36976" y="237744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36976" y="2377440"/>
            <a:ext cx="2743200" cy="45720"/>
          </a:xfrm>
          <a:prstGeom prst="rect">
            <a:avLst/>
          </a:prstGeom>
          <a:solidFill>
            <a:srgbClr val="05966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36976" y="2487168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 i="0">
                <a:solidFill>
                  <a:srgbClr val="059669"/>
                </a:solidFill>
                <a:latin typeface="Calibri"/>
              </a:rP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6976" y="2944368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50" b="0" i="0">
                <a:solidFill>
                  <a:srgbClr val="334155"/>
                </a:solidFill>
                <a:latin typeface="Calibri"/>
              </a:rPr>
              <a:t>Jira-Linked Branches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08192" y="237744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08192" y="2377440"/>
            <a:ext cx="2743200" cy="45720"/>
          </a:xfrm>
          <a:prstGeom prst="rect">
            <a:avLst/>
          </a:prstGeom>
          <a:solidFill>
            <a:srgbClr val="4F46E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08192" y="2487168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 i="0">
                <a:solidFill>
                  <a:srgbClr val="4F46E5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08192" y="2944368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50" b="0" i="0">
                <a:solidFill>
                  <a:srgbClr val="334155"/>
                </a:solidFill>
                <a:latin typeface="Calibri"/>
              </a:rPr>
              <a:t>Supported Languages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79408" y="237744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979408" y="2377440"/>
            <a:ext cx="2743200" cy="45720"/>
          </a:xfrm>
          <a:prstGeom prst="rect">
            <a:avLst/>
          </a:prstGeom>
          <a:solidFill>
            <a:srgbClr val="D9770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79408" y="2487168"/>
            <a:ext cx="2743200" cy="4924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lang="en-US" sz="2600" b="1" i="0" dirty="0">
                <a:solidFill>
                  <a:srgbClr val="D97706"/>
                </a:solidFill>
                <a:latin typeface="Calibri"/>
              </a:rPr>
              <a:t>7</a:t>
            </a:r>
            <a:endParaRPr sz="2600" b="1" i="0" dirty="0">
              <a:solidFill>
                <a:srgbClr val="D97706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979408" y="2944368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50" b="0" i="0">
                <a:solidFill>
                  <a:srgbClr val="334155"/>
                </a:solidFill>
                <a:latin typeface="Calibri"/>
              </a:rPr>
              <a:t>QA Test Cases Run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C5FEAD4E-7E93-8219-2CF5-7A2C2F8C0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33" y="3474721"/>
            <a:ext cx="5240037" cy="313472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0167DC1-3F49-C27E-8569-9F3123E45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8511" y="3547873"/>
            <a:ext cx="4054097" cy="306156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C0B812-0662-66E9-A5CC-DE57D404D54C}"/>
              </a:ext>
            </a:extLst>
          </p:cNvPr>
          <p:cNvSpPr txBox="1"/>
          <p:nvPr/>
        </p:nvSpPr>
        <p:spPr>
          <a:xfrm>
            <a:off x="3883950" y="2828835"/>
            <a:ext cx="4420924" cy="120032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lang="en-US" sz="7200" b="1" i="0" dirty="0">
                <a:solidFill>
                  <a:srgbClr val="0F172A"/>
                </a:solidFill>
                <a:latin typeface="Calibri"/>
              </a:rPr>
              <a:t>Thank You</a:t>
            </a:r>
            <a:endParaRPr sz="7200" b="1" i="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4F734B-EF35-90D2-3389-44F6F1DD1EA6}"/>
              </a:ext>
            </a:extLst>
          </p:cNvPr>
          <p:cNvSpPr txBox="1"/>
          <p:nvPr/>
        </p:nvSpPr>
        <p:spPr>
          <a:xfrm>
            <a:off x="164065" y="5970925"/>
            <a:ext cx="6912596" cy="6463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lang="en-US" b="1" i="0" dirty="0" err="1">
                <a:solidFill>
                  <a:srgbClr val="0F172A"/>
                </a:solidFill>
                <a:latin typeface="Calibri"/>
              </a:rPr>
              <a:t>Github</a:t>
            </a:r>
            <a:r>
              <a:rPr lang="en-US" b="1" i="0" dirty="0">
                <a:solidFill>
                  <a:srgbClr val="0F172A"/>
                </a:solidFill>
                <a:latin typeface="Calibri"/>
              </a:rPr>
              <a:t> </a:t>
            </a:r>
            <a:r>
              <a:rPr lang="en-US" b="1" dirty="0">
                <a:solidFill>
                  <a:srgbClr val="0F172A"/>
                </a:solidFill>
              </a:rPr>
              <a:t>repository: </a:t>
            </a:r>
            <a:r>
              <a:rPr lang="en-US" b="1" dirty="0">
                <a:solidFill>
                  <a:srgbClr val="0F172A"/>
                </a:solidFill>
                <a:hlinkClick r:id="rId2"/>
              </a:rPr>
              <a:t>https://github.com/narukami00/CodeVS</a:t>
            </a:r>
            <a:endParaRPr lang="en-US" b="1" dirty="0">
              <a:solidFill>
                <a:srgbClr val="0F172A"/>
              </a:solidFill>
            </a:endParaRPr>
          </a:p>
          <a:p>
            <a:endParaRPr b="1" i="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464FE2-0A7A-E10F-E0DC-F6643AF45EA6}"/>
              </a:ext>
            </a:extLst>
          </p:cNvPr>
          <p:cNvSpPr txBox="1"/>
          <p:nvPr/>
        </p:nvSpPr>
        <p:spPr>
          <a:xfrm>
            <a:off x="164065" y="6294090"/>
            <a:ext cx="6912596" cy="92333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lang="en-US" b="1" dirty="0">
                <a:solidFill>
                  <a:srgbClr val="0F172A"/>
                </a:solidFill>
                <a:latin typeface="Calibri"/>
              </a:rPr>
              <a:t>Website</a:t>
            </a:r>
            <a:r>
              <a:rPr lang="en-US" b="1" dirty="0">
                <a:solidFill>
                  <a:srgbClr val="0F172A"/>
                </a:solidFill>
              </a:rPr>
              <a:t>: </a:t>
            </a:r>
            <a:r>
              <a:rPr lang="en-US" b="1" dirty="0">
                <a:solidFill>
                  <a:srgbClr val="0F172A"/>
                </a:solidFill>
                <a:hlinkClick r:id="rId3"/>
              </a:rPr>
              <a:t>https://codevs-a9bf1.web.app/</a:t>
            </a:r>
            <a:endParaRPr lang="en-US" b="1" dirty="0">
              <a:solidFill>
                <a:srgbClr val="0F172A"/>
              </a:solidFill>
            </a:endParaRPr>
          </a:p>
          <a:p>
            <a:endParaRPr lang="en-US" b="1" dirty="0">
              <a:solidFill>
                <a:srgbClr val="0F172A"/>
              </a:solidFill>
            </a:endParaRPr>
          </a:p>
          <a:p>
            <a:endParaRPr b="1" i="0" dirty="0">
              <a:solidFill>
                <a:srgbClr val="0F172A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89478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1595</Words>
  <Application>Microsoft Office PowerPoint</Application>
  <PresentationFormat>Custom</PresentationFormat>
  <Paragraphs>359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Rafsan Riasat</cp:lastModifiedBy>
  <cp:revision>11</cp:revision>
  <dcterms:created xsi:type="dcterms:W3CDTF">2013-01-27T09:14:16Z</dcterms:created>
  <dcterms:modified xsi:type="dcterms:W3CDTF">2026-07-19T09:39:01Z</dcterms:modified>
  <cp:category/>
</cp:coreProperties>
</file>